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1" roundtripDataSignature="AMtx7miDAwLFzmFsdLZN+grG7a4sWYSr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Bob</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800">
                <a:solidFill>
                  <a:srgbClr val="595959"/>
                </a:solidFill>
              </a:rPr>
              <a:t>The raw data came in the form of 1146 .csv documents, containing an observation for every half-hour for 20 years (2000 → 2020). Dan</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GB" sz="1800">
                <a:solidFill>
                  <a:srgbClr val="595959"/>
                </a:solidFill>
              </a:rPr>
              <a:t>This data contained many superfluous columns and differing standards of data-collection. For instance, the temperature data featured separate columns for year, month, day, hour, minute, while the demand data featured a single column for the entire date string.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chemeClr val="dk1"/>
                </a:solidFill>
                <a:highlight>
                  <a:schemeClr val="lt1"/>
                </a:highlight>
              </a:rPr>
              <a:t>Alex the above graph provide the temperature between 2015 to 2020. in the graph, it clearly shows that in the January of 2015 to March of 2015, it has the higher temperature,, which is 35 degrees. this graph provide the same thing that I mention on the previous Demand graph, in January to March, Australia is in Summer, which means the temperature is more higher that the other month, which represents people use more energy demand, since they need to open the air condition. And after March to May, the temperture keep decrease, but the range of the air temperture is between 25-15 Calcium, which means that the temperture is fine for people to live. After May, Australia enter Winter seeason, which represents that the temperture decrease very fast, and the lowerst temperture is 4 Calcium. When Australia enter Winter, the energy demand has strictly increase, which means that people need to open heater. so after the Winter season, which is after august, the temperture of Australia is fine for people to live. the Same situationwill happen after Octorbor, since Australia has enter Summer. The graph will provide the same trent since the season is almost same.</a:t>
            </a:r>
            <a:endParaRPr sz="1050">
              <a:solidFill>
                <a:schemeClr val="dk1"/>
              </a:solidFill>
              <a:highlight>
                <a:schemeClr val="lt1"/>
              </a:highlight>
            </a:endParaRPr>
          </a:p>
          <a:p>
            <a:pPr indent="0" lvl="0" marL="0" rtl="0" algn="l">
              <a:lnSpc>
                <a:spcPct val="115000"/>
              </a:lnSpc>
              <a:spcBef>
                <a:spcPts val="1200"/>
              </a:spcBef>
              <a:spcAft>
                <a:spcPts val="1200"/>
              </a:spcAft>
              <a:buClr>
                <a:schemeClr val="dk1"/>
              </a:buClr>
              <a:buSzPts val="1100"/>
              <a:buFont typeface="Arial"/>
              <a:buNone/>
            </a:pPr>
            <a:r>
              <a:t/>
            </a:r>
            <a:endParaRPr sz="1050">
              <a:solidFill>
                <a:schemeClr val="dk1"/>
              </a:solidFill>
              <a:highlight>
                <a:schemeClr val="lt1"/>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GB" sz="1800">
                <a:solidFill>
                  <a:srgbClr val="595959"/>
                </a:solidFill>
              </a:rPr>
              <a:t>Alex The goal of normalization is to change the values of numeric columns in the dataset to a common scale, without distorting differences in the ranges of values. For example, from the victoria data set that we do, which containing two features, TEMP, and Demand. Where Temp ranges from 5-35, while Remand ranges from 3500–7500 and higher. Demand is about 100 times larger than Temp and ranges from 3500-7500. So, these two features are in very different ranges. When we do further analysis, like multivariate linear regression, for example, the attributed income will intrinsically influence the result more due to its larger value.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Adam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Adam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Daniel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Daniel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Daniel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Adam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Bob</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7"/>
          <p:cNvGrpSpPr/>
          <p:nvPr/>
        </p:nvGrpSpPr>
        <p:grpSpPr>
          <a:xfrm>
            <a:off x="0" y="-6350"/>
            <a:ext cx="9144000" cy="5149850"/>
            <a:chOff x="0" y="-8467"/>
            <a:chExt cx="12192000" cy="6866467"/>
          </a:xfrm>
        </p:grpSpPr>
        <p:cxnSp>
          <p:nvCxnSpPr>
            <p:cNvPr id="24" name="Google Shape;24;p17"/>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17"/>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17"/>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17"/>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17"/>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7"/>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075A2">
                <a:alpha val="69803"/>
              </a:srgbClr>
            </a:solidFill>
            <a:ln>
              <a:noFill/>
            </a:ln>
          </p:spPr>
        </p:sp>
        <p:sp>
          <p:nvSpPr>
            <p:cNvPr id="30" name="Google Shape;30;p17"/>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F3F40">
                <a:alpha val="69803"/>
              </a:srgbClr>
            </a:solidFill>
            <a:ln>
              <a:noFill/>
            </a:ln>
          </p:spPr>
        </p:sp>
        <p:sp>
          <p:nvSpPr>
            <p:cNvPr id="31" name="Google Shape;31;p17"/>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17"/>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7"/>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17"/>
          <p:cNvSpPr txBox="1"/>
          <p:nvPr>
            <p:ph type="ctrTitle"/>
          </p:nvPr>
        </p:nvSpPr>
        <p:spPr>
          <a:xfrm>
            <a:off x="1130300" y="1803400"/>
            <a:ext cx="5825202" cy="1234727"/>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4050"/>
              <a:buFont typeface="Trebuchet MS"/>
              <a:buNone/>
              <a:defRPr sz="405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 type="subTitle"/>
          </p:nvPr>
        </p:nvSpPr>
        <p:spPr>
          <a:xfrm>
            <a:off x="1130300" y="3038125"/>
            <a:ext cx="5825202" cy="822674"/>
          </a:xfrm>
          <a:prstGeom prst="rect">
            <a:avLst/>
          </a:prstGeom>
          <a:noFill/>
          <a:ln>
            <a:noFill/>
          </a:ln>
        </p:spPr>
        <p:txBody>
          <a:bodyPr anchorCtr="0" anchor="t" bIns="45700" lIns="91425" spcFirstLastPara="1" rIns="91425" wrap="square" tIns="45700">
            <a:normAutofit/>
          </a:bodyPr>
          <a:lstStyle>
            <a:lvl1pPr lvl="0" algn="r">
              <a:spcBef>
                <a:spcPts val="750"/>
              </a:spcBef>
              <a:spcAft>
                <a:spcPts val="0"/>
              </a:spcAft>
              <a:buSzPts val="1080"/>
              <a:buNone/>
              <a:defRPr>
                <a:solidFill>
                  <a:srgbClr val="7F7F7F"/>
                </a:solidFill>
              </a:defRPr>
            </a:lvl1pPr>
            <a:lvl2pPr lvl="1" algn="ctr">
              <a:spcBef>
                <a:spcPts val="750"/>
              </a:spcBef>
              <a:spcAft>
                <a:spcPts val="0"/>
              </a:spcAft>
              <a:buSzPts val="960"/>
              <a:buNone/>
              <a:defRPr>
                <a:solidFill>
                  <a:srgbClr val="888888"/>
                </a:solidFill>
              </a:defRPr>
            </a:lvl2pPr>
            <a:lvl3pPr lvl="2" algn="ctr">
              <a:spcBef>
                <a:spcPts val="750"/>
              </a:spcBef>
              <a:spcAft>
                <a:spcPts val="0"/>
              </a:spcAft>
              <a:buSzPts val="840"/>
              <a:buNone/>
              <a:defRPr>
                <a:solidFill>
                  <a:srgbClr val="888888"/>
                </a:solidFill>
              </a:defRPr>
            </a:lvl3pPr>
            <a:lvl4pPr lvl="3" algn="ctr">
              <a:spcBef>
                <a:spcPts val="750"/>
              </a:spcBef>
              <a:spcAft>
                <a:spcPts val="0"/>
              </a:spcAft>
              <a:buSzPts val="720"/>
              <a:buNone/>
              <a:defRPr>
                <a:solidFill>
                  <a:srgbClr val="888888"/>
                </a:solidFill>
              </a:defRPr>
            </a:lvl4pPr>
            <a:lvl5pPr lvl="4" algn="ctr">
              <a:spcBef>
                <a:spcPts val="750"/>
              </a:spcBef>
              <a:spcAft>
                <a:spcPts val="0"/>
              </a:spcAft>
              <a:buSzPts val="720"/>
              <a:buNone/>
              <a:defRPr>
                <a:solidFill>
                  <a:srgbClr val="888888"/>
                </a:solidFill>
              </a:defRPr>
            </a:lvl5pPr>
            <a:lvl6pPr lvl="5" algn="ctr">
              <a:spcBef>
                <a:spcPts val="750"/>
              </a:spcBef>
              <a:spcAft>
                <a:spcPts val="0"/>
              </a:spcAft>
              <a:buSzPts val="720"/>
              <a:buNone/>
              <a:defRPr>
                <a:solidFill>
                  <a:srgbClr val="888888"/>
                </a:solidFill>
              </a:defRPr>
            </a:lvl6pPr>
            <a:lvl7pPr lvl="6" algn="ctr">
              <a:spcBef>
                <a:spcPts val="750"/>
              </a:spcBef>
              <a:spcAft>
                <a:spcPts val="0"/>
              </a:spcAft>
              <a:buSzPts val="720"/>
              <a:buNone/>
              <a:defRPr>
                <a:solidFill>
                  <a:srgbClr val="888888"/>
                </a:solidFill>
              </a:defRPr>
            </a:lvl7pPr>
            <a:lvl8pPr lvl="7" algn="ctr">
              <a:spcBef>
                <a:spcPts val="750"/>
              </a:spcBef>
              <a:spcAft>
                <a:spcPts val="0"/>
              </a:spcAft>
              <a:buSzPts val="720"/>
              <a:buNone/>
              <a:defRPr>
                <a:solidFill>
                  <a:srgbClr val="888888"/>
                </a:solidFill>
              </a:defRPr>
            </a:lvl8pPr>
            <a:lvl9pPr lvl="8" algn="ctr">
              <a:spcBef>
                <a:spcPts val="750"/>
              </a:spcBef>
              <a:spcAft>
                <a:spcPts val="0"/>
              </a:spcAft>
              <a:buSzPts val="720"/>
              <a:buNone/>
              <a:defRPr>
                <a:solidFill>
                  <a:srgbClr val="888888"/>
                </a:solidFill>
              </a:defRPr>
            </a:lvl9pPr>
          </a:lstStyle>
          <a:p/>
        </p:txBody>
      </p:sp>
      <p:sp>
        <p:nvSpPr>
          <p:cNvPr id="36" name="Google Shape;36;p17"/>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spcBef>
                <a:spcPts val="0"/>
              </a:spcBef>
              <a:spcAft>
                <a:spcPts val="0"/>
              </a:spcAft>
              <a:buClr>
                <a:schemeClr val="accent1"/>
              </a:buClr>
              <a:buSzPts val="2800"/>
              <a:buFont typeface="Trebuchet MS"/>
              <a:buNone/>
              <a:defRPr/>
            </a:lvl1pPr>
            <a:lvl2pPr lvl="1" algn="l">
              <a:spcBef>
                <a:spcPts val="0"/>
              </a:spcBef>
              <a:spcAft>
                <a:spcPts val="0"/>
              </a:spcAft>
              <a:buClr>
                <a:schemeClr val="dk2"/>
              </a:buClr>
              <a:buSzPts val="2800"/>
              <a:buNone/>
              <a:defRPr/>
            </a:lvl2pPr>
            <a:lvl3pPr lvl="2" algn="l">
              <a:spcBef>
                <a:spcPts val="0"/>
              </a:spcBef>
              <a:spcAft>
                <a:spcPts val="0"/>
              </a:spcAft>
              <a:buClr>
                <a:schemeClr val="dk2"/>
              </a:buClr>
              <a:buSzPts val="2800"/>
              <a:buNone/>
              <a:defRPr/>
            </a:lvl3pPr>
            <a:lvl4pPr lvl="3" algn="l">
              <a:spcBef>
                <a:spcPts val="0"/>
              </a:spcBef>
              <a:spcAft>
                <a:spcPts val="0"/>
              </a:spcAft>
              <a:buClr>
                <a:schemeClr val="dk2"/>
              </a:buClr>
              <a:buSzPts val="2800"/>
              <a:buNone/>
              <a:defRPr/>
            </a:lvl4pPr>
            <a:lvl5pPr lvl="4" algn="l">
              <a:spcBef>
                <a:spcPts val="0"/>
              </a:spcBef>
              <a:spcAft>
                <a:spcPts val="0"/>
              </a:spcAft>
              <a:buClr>
                <a:schemeClr val="dk2"/>
              </a:buClr>
              <a:buSzPts val="2800"/>
              <a:buNone/>
              <a:defRPr/>
            </a:lvl5pPr>
            <a:lvl6pPr lvl="5" algn="l">
              <a:spcBef>
                <a:spcPts val="0"/>
              </a:spcBef>
              <a:spcAft>
                <a:spcPts val="0"/>
              </a:spcAft>
              <a:buClr>
                <a:schemeClr val="dk2"/>
              </a:buClr>
              <a:buSzPts val="2800"/>
              <a:buNone/>
              <a:defRPr/>
            </a:lvl6pPr>
            <a:lvl7pPr lvl="6" algn="l">
              <a:spcBef>
                <a:spcPts val="0"/>
              </a:spcBef>
              <a:spcAft>
                <a:spcPts val="0"/>
              </a:spcAft>
              <a:buClr>
                <a:schemeClr val="dk2"/>
              </a:buClr>
              <a:buSzPts val="2800"/>
              <a:buNone/>
              <a:defRPr/>
            </a:lvl7pPr>
            <a:lvl8pPr lvl="7" algn="l">
              <a:spcBef>
                <a:spcPts val="0"/>
              </a:spcBef>
              <a:spcAft>
                <a:spcPts val="0"/>
              </a:spcAft>
              <a:buClr>
                <a:schemeClr val="dk2"/>
              </a:buClr>
              <a:buSzPts val="2800"/>
              <a:buNone/>
              <a:defRPr/>
            </a:lvl8pPr>
            <a:lvl9pPr lvl="8" algn="l">
              <a:spcBef>
                <a:spcPts val="0"/>
              </a:spcBef>
              <a:spcAft>
                <a:spcPts val="0"/>
              </a:spcAft>
              <a:buClr>
                <a:schemeClr val="dk2"/>
              </a:buClr>
              <a:buSzPts val="2800"/>
              <a:buNone/>
              <a:defRPr/>
            </a:lvl9pPr>
          </a:lstStyle>
          <a:p/>
        </p:txBody>
      </p:sp>
      <p:sp>
        <p:nvSpPr>
          <p:cNvPr id="41" name="Google Shape;4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spcBef>
                <a:spcPts val="0"/>
              </a:spcBef>
              <a:spcAft>
                <a:spcPts val="0"/>
              </a:spcAft>
              <a:buSzPts val="1800"/>
              <a:buChar char="●"/>
              <a:defRPr/>
            </a:lvl1pPr>
            <a:lvl2pPr indent="-317500" lvl="1" marL="914400" algn="l">
              <a:spcBef>
                <a:spcPts val="0"/>
              </a:spcBef>
              <a:spcAft>
                <a:spcPts val="0"/>
              </a:spcAft>
              <a:buSzPts val="1400"/>
              <a:buChar char="○"/>
              <a:defRPr/>
            </a:lvl2pPr>
            <a:lvl3pPr indent="-317500" lvl="2" marL="1371600" algn="l">
              <a:spcBef>
                <a:spcPts val="0"/>
              </a:spcBef>
              <a:spcAft>
                <a:spcPts val="0"/>
              </a:spcAft>
              <a:buSzPts val="1400"/>
              <a:buChar char="■"/>
              <a:defRPr/>
            </a:lvl3pPr>
            <a:lvl4pPr indent="-317500" lvl="3" marL="1828800" algn="l">
              <a:spcBef>
                <a:spcPts val="0"/>
              </a:spcBef>
              <a:spcAft>
                <a:spcPts val="0"/>
              </a:spcAft>
              <a:buSzPts val="1400"/>
              <a:buChar char="●"/>
              <a:defRPr/>
            </a:lvl4pPr>
            <a:lvl5pPr indent="-317500" lvl="4" marL="2286000" algn="l">
              <a:spcBef>
                <a:spcPts val="0"/>
              </a:spcBef>
              <a:spcAft>
                <a:spcPts val="0"/>
              </a:spcAft>
              <a:buSzPts val="1400"/>
              <a:buChar char="○"/>
              <a:defRPr/>
            </a:lvl5pPr>
            <a:lvl6pPr indent="-317500" lvl="5" marL="2743200" algn="l">
              <a:spcBef>
                <a:spcPts val="0"/>
              </a:spcBef>
              <a:spcAft>
                <a:spcPts val="0"/>
              </a:spcAft>
              <a:buSzPts val="1400"/>
              <a:buChar char="■"/>
              <a:defRPr/>
            </a:lvl6pPr>
            <a:lvl7pPr indent="-317500" lvl="6" marL="3200400" algn="l">
              <a:spcBef>
                <a:spcPts val="0"/>
              </a:spcBef>
              <a:spcAft>
                <a:spcPts val="0"/>
              </a:spcAft>
              <a:buSzPts val="1400"/>
              <a:buChar char="●"/>
              <a:defRPr/>
            </a:lvl7pPr>
            <a:lvl8pPr indent="-317500" lvl="7" marL="3657600" algn="l">
              <a:spcBef>
                <a:spcPts val="0"/>
              </a:spcBef>
              <a:spcAft>
                <a:spcPts val="0"/>
              </a:spcAft>
              <a:buSzPts val="1400"/>
              <a:buChar char="○"/>
              <a:defRPr/>
            </a:lvl8pPr>
            <a:lvl9pPr indent="-317500" lvl="8" marL="4114800" algn="l">
              <a:spcBef>
                <a:spcPts val="0"/>
              </a:spcBef>
              <a:spcAft>
                <a:spcPts val="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1pPr>
            <a:lvl2pPr indent="0" lvl="1"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2pPr>
            <a:lvl3pPr indent="0" lvl="2"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3pPr>
            <a:lvl4pPr indent="0" lvl="3"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4pPr>
            <a:lvl5pPr indent="0" lvl="4"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5pPr>
            <a:lvl6pPr indent="0" lvl="5"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6pPr>
            <a:lvl7pPr indent="0" lvl="6"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7pPr>
            <a:lvl8pPr indent="0" lvl="7"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8pPr>
            <a:lvl9pPr indent="0" lvl="8" marL="0" marR="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9"/>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2700"/>
              <a:buFont typeface="Trebuchet MS"/>
              <a:buNone/>
              <a:defRPr sz="27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 type="body"/>
          </p:nvPr>
        </p:nvSpPr>
        <p:spPr>
          <a:xfrm>
            <a:off x="508001" y="1620442"/>
            <a:ext cx="6447501" cy="2910580"/>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46" name="Google Shape;46;p19"/>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20"/>
          <p:cNvSpPr txBox="1"/>
          <p:nvPr>
            <p:ph type="title"/>
          </p:nvPr>
        </p:nvSpPr>
        <p:spPr>
          <a:xfrm>
            <a:off x="508001" y="2025651"/>
            <a:ext cx="6447501" cy="136993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000"/>
              <a:buFont typeface="Trebuchet MS"/>
              <a:buNone/>
              <a:defRPr b="0" sz="3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
          <p:cNvSpPr txBox="1"/>
          <p:nvPr>
            <p:ph idx="1" type="body"/>
          </p:nvPr>
        </p:nvSpPr>
        <p:spPr>
          <a:xfrm>
            <a:off x="508001" y="3395586"/>
            <a:ext cx="6447501" cy="645300"/>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200"/>
              <a:buNone/>
              <a:defRPr sz="150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52" name="Google Shape;52;p20"/>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21"/>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 type="body"/>
          </p:nvPr>
        </p:nvSpPr>
        <p:spPr>
          <a:xfrm>
            <a:off x="508001" y="1620442"/>
            <a:ext cx="3138026" cy="2910579"/>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58" name="Google Shape;58;p21"/>
          <p:cNvSpPr txBox="1"/>
          <p:nvPr>
            <p:ph idx="2" type="body"/>
          </p:nvPr>
        </p:nvSpPr>
        <p:spPr>
          <a:xfrm>
            <a:off x="3817477" y="1620442"/>
            <a:ext cx="3138026" cy="2910580"/>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59" name="Google Shape;59;p21"/>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1"/>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2"/>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27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 type="body"/>
          </p:nvPr>
        </p:nvSpPr>
        <p:spPr>
          <a:xfrm>
            <a:off x="506809" y="1620737"/>
            <a:ext cx="3139217"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65" name="Google Shape;65;p22"/>
          <p:cNvSpPr txBox="1"/>
          <p:nvPr>
            <p:ph idx="2" type="body"/>
          </p:nvPr>
        </p:nvSpPr>
        <p:spPr>
          <a:xfrm>
            <a:off x="506809" y="2052934"/>
            <a:ext cx="3139217" cy="247808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66" name="Google Shape;66;p22"/>
          <p:cNvSpPr txBox="1"/>
          <p:nvPr>
            <p:ph idx="3" type="body"/>
          </p:nvPr>
        </p:nvSpPr>
        <p:spPr>
          <a:xfrm>
            <a:off x="3816287" y="1620737"/>
            <a:ext cx="3139214"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67" name="Google Shape;67;p22"/>
          <p:cNvSpPr txBox="1"/>
          <p:nvPr>
            <p:ph idx="4" type="body"/>
          </p:nvPr>
        </p:nvSpPr>
        <p:spPr>
          <a:xfrm>
            <a:off x="3816288" y="2052934"/>
            <a:ext cx="3139213" cy="247808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68" name="Google Shape;68;p22"/>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3"/>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3"/>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4"/>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25"/>
          <p:cNvSpPr txBox="1"/>
          <p:nvPr>
            <p:ph type="title"/>
          </p:nvPr>
        </p:nvSpPr>
        <p:spPr>
          <a:xfrm>
            <a:off x="508001" y="1123953"/>
            <a:ext cx="2890896" cy="9588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500"/>
              <a:buFont typeface="Trebuchet MS"/>
              <a:buNone/>
              <a:defRPr sz="1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 type="body"/>
          </p:nvPr>
        </p:nvSpPr>
        <p:spPr>
          <a:xfrm>
            <a:off x="3570346" y="386193"/>
            <a:ext cx="3385156" cy="414482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83" name="Google Shape;83;p25"/>
          <p:cNvSpPr txBox="1"/>
          <p:nvPr>
            <p:ph idx="2" type="body"/>
          </p:nvPr>
        </p:nvSpPr>
        <p:spPr>
          <a:xfrm>
            <a:off x="508001" y="2082802"/>
            <a:ext cx="2890896" cy="193833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840"/>
              <a:buNone/>
              <a:defRPr sz="1050"/>
            </a:lvl1pPr>
            <a:lvl2pPr indent="-228600" lvl="1" marL="914400" algn="l">
              <a:spcBef>
                <a:spcPts val="750"/>
              </a:spcBef>
              <a:spcAft>
                <a:spcPts val="0"/>
              </a:spcAft>
              <a:buSzPts val="840"/>
              <a:buNone/>
              <a:defRPr sz="1050"/>
            </a:lvl2pPr>
            <a:lvl3pPr indent="-228600" lvl="2" marL="1371600" algn="l">
              <a:spcBef>
                <a:spcPts val="750"/>
              </a:spcBef>
              <a:spcAft>
                <a:spcPts val="0"/>
              </a:spcAft>
              <a:buSzPts val="720"/>
              <a:buNone/>
              <a:defRPr sz="900"/>
            </a:lvl3pPr>
            <a:lvl4pPr indent="-228600" lvl="3" marL="1828800" algn="l">
              <a:spcBef>
                <a:spcPts val="750"/>
              </a:spcBef>
              <a:spcAft>
                <a:spcPts val="0"/>
              </a:spcAft>
              <a:buSzPts val="600"/>
              <a:buNone/>
              <a:defRPr sz="750"/>
            </a:lvl4pPr>
            <a:lvl5pPr indent="-228600" lvl="4" marL="2286000" algn="l">
              <a:spcBef>
                <a:spcPts val="750"/>
              </a:spcBef>
              <a:spcAft>
                <a:spcPts val="0"/>
              </a:spcAft>
              <a:buSzPts val="600"/>
              <a:buNone/>
              <a:defRPr sz="750"/>
            </a:lvl5pPr>
            <a:lvl6pPr indent="-228600" lvl="5" marL="2743200" algn="l">
              <a:spcBef>
                <a:spcPts val="750"/>
              </a:spcBef>
              <a:spcAft>
                <a:spcPts val="0"/>
              </a:spcAft>
              <a:buSzPts val="600"/>
              <a:buNone/>
              <a:defRPr sz="750"/>
            </a:lvl6pPr>
            <a:lvl7pPr indent="-228600" lvl="6" marL="3200400" algn="l">
              <a:spcBef>
                <a:spcPts val="750"/>
              </a:spcBef>
              <a:spcAft>
                <a:spcPts val="0"/>
              </a:spcAft>
              <a:buSzPts val="600"/>
              <a:buNone/>
              <a:defRPr sz="750"/>
            </a:lvl7pPr>
            <a:lvl8pPr indent="-228600" lvl="7" marL="3657600" algn="l">
              <a:spcBef>
                <a:spcPts val="750"/>
              </a:spcBef>
              <a:spcAft>
                <a:spcPts val="0"/>
              </a:spcAft>
              <a:buSzPts val="600"/>
              <a:buNone/>
              <a:defRPr sz="750"/>
            </a:lvl8pPr>
            <a:lvl9pPr indent="-228600" lvl="8" marL="4114800" algn="l">
              <a:spcBef>
                <a:spcPts val="750"/>
              </a:spcBef>
              <a:spcAft>
                <a:spcPts val="0"/>
              </a:spcAft>
              <a:buSzPts val="600"/>
              <a:buNone/>
              <a:defRPr sz="750"/>
            </a:lvl9pPr>
          </a:lstStyle>
          <a:p/>
        </p:txBody>
      </p:sp>
      <p:sp>
        <p:nvSpPr>
          <p:cNvPr id="84" name="Google Shape;84;p25"/>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5"/>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5"/>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26"/>
          <p:cNvSpPr txBox="1"/>
          <p:nvPr>
            <p:ph type="title"/>
          </p:nvPr>
        </p:nvSpPr>
        <p:spPr>
          <a:xfrm>
            <a:off x="508001" y="3600450"/>
            <a:ext cx="64475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Font typeface="Trebuchet MS"/>
              <a:buNone/>
              <a:defRPr b="0"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6"/>
          <p:cNvSpPr/>
          <p:nvPr>
            <p:ph idx="2" type="pic"/>
          </p:nvPr>
        </p:nvSpPr>
        <p:spPr>
          <a:xfrm>
            <a:off x="508001" y="457200"/>
            <a:ext cx="6447501" cy="2884289"/>
          </a:xfrm>
          <a:prstGeom prst="rect">
            <a:avLst/>
          </a:prstGeom>
          <a:noFill/>
          <a:ln>
            <a:noFill/>
          </a:ln>
        </p:spPr>
      </p:sp>
      <p:sp>
        <p:nvSpPr>
          <p:cNvPr id="90" name="Google Shape;90;p26"/>
          <p:cNvSpPr txBox="1"/>
          <p:nvPr>
            <p:ph idx="1" type="body"/>
          </p:nvPr>
        </p:nvSpPr>
        <p:spPr>
          <a:xfrm>
            <a:off x="508001" y="4025504"/>
            <a:ext cx="6447500" cy="505518"/>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720"/>
              <a:buNone/>
              <a:defRPr sz="900"/>
            </a:lvl1pPr>
            <a:lvl2pPr indent="-228600" lvl="1" marL="914400" algn="l">
              <a:spcBef>
                <a:spcPts val="750"/>
              </a:spcBef>
              <a:spcAft>
                <a:spcPts val="0"/>
              </a:spcAft>
              <a:buSzPts val="720"/>
              <a:buNone/>
              <a:defRPr sz="900"/>
            </a:lvl2pPr>
            <a:lvl3pPr indent="-228600" lvl="2" marL="1371600" algn="l">
              <a:spcBef>
                <a:spcPts val="750"/>
              </a:spcBef>
              <a:spcAft>
                <a:spcPts val="0"/>
              </a:spcAft>
              <a:buSzPts val="600"/>
              <a:buNone/>
              <a:defRPr sz="750"/>
            </a:lvl3pPr>
            <a:lvl4pPr indent="-228600" lvl="3" marL="1828800" algn="l">
              <a:spcBef>
                <a:spcPts val="750"/>
              </a:spcBef>
              <a:spcAft>
                <a:spcPts val="0"/>
              </a:spcAft>
              <a:buSzPts val="540"/>
              <a:buNone/>
              <a:defRPr sz="675"/>
            </a:lvl4pPr>
            <a:lvl5pPr indent="-228600" lvl="4" marL="2286000" algn="l">
              <a:spcBef>
                <a:spcPts val="750"/>
              </a:spcBef>
              <a:spcAft>
                <a:spcPts val="0"/>
              </a:spcAft>
              <a:buSzPts val="540"/>
              <a:buNone/>
              <a:defRPr sz="675"/>
            </a:lvl5pPr>
            <a:lvl6pPr indent="-228600" lvl="5" marL="2743200" algn="l">
              <a:spcBef>
                <a:spcPts val="750"/>
              </a:spcBef>
              <a:spcAft>
                <a:spcPts val="0"/>
              </a:spcAft>
              <a:buSzPts val="540"/>
              <a:buNone/>
              <a:defRPr sz="675"/>
            </a:lvl6pPr>
            <a:lvl7pPr indent="-228600" lvl="6" marL="3200400" algn="l">
              <a:spcBef>
                <a:spcPts val="750"/>
              </a:spcBef>
              <a:spcAft>
                <a:spcPts val="0"/>
              </a:spcAft>
              <a:buSzPts val="540"/>
              <a:buNone/>
              <a:defRPr sz="675"/>
            </a:lvl7pPr>
            <a:lvl8pPr indent="-228600" lvl="7" marL="3657600" algn="l">
              <a:spcBef>
                <a:spcPts val="750"/>
              </a:spcBef>
              <a:spcAft>
                <a:spcPts val="0"/>
              </a:spcAft>
              <a:buSzPts val="540"/>
              <a:buNone/>
              <a:defRPr sz="675"/>
            </a:lvl8pPr>
            <a:lvl9pPr indent="-228600" lvl="8" marL="4114800" algn="l">
              <a:spcBef>
                <a:spcPts val="750"/>
              </a:spcBef>
              <a:spcAft>
                <a:spcPts val="0"/>
              </a:spcAft>
              <a:buSzPts val="540"/>
              <a:buNone/>
              <a:defRPr sz="675"/>
            </a:lvl9pPr>
          </a:lstStyle>
          <a:p/>
        </p:txBody>
      </p:sp>
      <p:sp>
        <p:nvSpPr>
          <p:cNvPr id="91" name="Google Shape;91;p26"/>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6"/>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6"/>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27"/>
          <p:cNvSpPr txBox="1"/>
          <p:nvPr>
            <p:ph type="title"/>
          </p:nvPr>
        </p:nvSpPr>
        <p:spPr>
          <a:xfrm>
            <a:off x="508001" y="457200"/>
            <a:ext cx="6447501" cy="2552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7"/>
          <p:cNvSpPr txBox="1"/>
          <p:nvPr>
            <p:ph idx="1" type="body"/>
          </p:nvPr>
        </p:nvSpPr>
        <p:spPr>
          <a:xfrm>
            <a:off x="508001" y="3352800"/>
            <a:ext cx="6447501" cy="1178222"/>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97" name="Google Shape;97;p27"/>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7"/>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7"/>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28"/>
          <p:cNvSpPr txBox="1"/>
          <p:nvPr>
            <p:ph type="title"/>
          </p:nvPr>
        </p:nvSpPr>
        <p:spPr>
          <a:xfrm>
            <a:off x="698500" y="457200"/>
            <a:ext cx="6070601"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8"/>
          <p:cNvSpPr txBox="1"/>
          <p:nvPr>
            <p:ph idx="1" type="body"/>
          </p:nvPr>
        </p:nvSpPr>
        <p:spPr>
          <a:xfrm>
            <a:off x="1024604" y="2724150"/>
            <a:ext cx="5418393" cy="285750"/>
          </a:xfrm>
          <a:prstGeom prst="rect">
            <a:avLst/>
          </a:prstGeom>
          <a:noFill/>
          <a:ln>
            <a:noFill/>
          </a:ln>
        </p:spPr>
        <p:txBody>
          <a:bodyPr anchorCtr="0" anchor="ctr" bIns="45700" lIns="91425" spcFirstLastPara="1" rIns="91425" wrap="square" tIns="45700">
            <a:noAutofit/>
          </a:bodyPr>
          <a:lstStyle>
            <a:lvl1pPr indent="-228600" lvl="0" marL="457200" algn="l">
              <a:spcBef>
                <a:spcPts val="750"/>
              </a:spcBef>
              <a:spcAft>
                <a:spcPts val="0"/>
              </a:spcAft>
              <a:buSzPts val="960"/>
              <a:buFont typeface="Trebuchet MS"/>
              <a:buNone/>
              <a:defRPr sz="1200">
                <a:solidFill>
                  <a:srgbClr val="7F7F7F"/>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03" name="Google Shape;103;p28"/>
          <p:cNvSpPr txBox="1"/>
          <p:nvPr>
            <p:ph idx="2" type="body"/>
          </p:nvPr>
        </p:nvSpPr>
        <p:spPr>
          <a:xfrm>
            <a:off x="508001" y="3352800"/>
            <a:ext cx="6447501" cy="1178222"/>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04" name="Google Shape;104;p28"/>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8"/>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8"/>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
        <p:nvSpPr>
          <p:cNvPr id="107" name="Google Shape;107;p28"/>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6000" u="none" cap="none" strike="noStrike">
                <a:solidFill>
                  <a:srgbClr val="FF3F40"/>
                </a:solidFill>
                <a:latin typeface="Arial"/>
                <a:ea typeface="Arial"/>
                <a:cs typeface="Arial"/>
                <a:sym typeface="Arial"/>
              </a:rPr>
              <a:t>“</a:t>
            </a:r>
            <a:endParaRPr/>
          </a:p>
        </p:txBody>
      </p:sp>
      <p:sp>
        <p:nvSpPr>
          <p:cNvPr id="108" name="Google Shape;108;p28"/>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6000" u="none" cap="none" strike="noStrike">
                <a:solidFill>
                  <a:srgbClr val="FF3F40"/>
                </a:solidFill>
                <a:latin typeface="Arial"/>
                <a:ea typeface="Arial"/>
                <a:cs typeface="Arial"/>
                <a:sym typeface="Arial"/>
              </a:rPr>
              <a:t>”</a:t>
            </a:r>
            <a:endParaRPr b="0" i="0" sz="1050" u="none" cap="none" strike="noStrike">
              <a:solidFill>
                <a:srgbClr val="FF3F4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29"/>
          <p:cNvSpPr txBox="1"/>
          <p:nvPr>
            <p:ph type="title"/>
          </p:nvPr>
        </p:nvSpPr>
        <p:spPr>
          <a:xfrm>
            <a:off x="508001" y="1448991"/>
            <a:ext cx="6447501" cy="194659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9"/>
          <p:cNvSpPr txBox="1"/>
          <p:nvPr>
            <p:ph idx="1"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12" name="Google Shape;112;p29"/>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9"/>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9"/>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30"/>
          <p:cNvSpPr txBox="1"/>
          <p:nvPr>
            <p:ph type="title"/>
          </p:nvPr>
        </p:nvSpPr>
        <p:spPr>
          <a:xfrm>
            <a:off x="698500" y="457200"/>
            <a:ext cx="6070601"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0"/>
          <p:cNvSpPr txBox="1"/>
          <p:nvPr>
            <p:ph idx="1" type="body"/>
          </p:nvPr>
        </p:nvSpPr>
        <p:spPr>
          <a:xfrm>
            <a:off x="507999" y="3009900"/>
            <a:ext cx="6447502" cy="385686"/>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Font typeface="Trebuchet MS"/>
              <a:buNone/>
              <a:defRPr sz="1800">
                <a:solidFill>
                  <a:srgbClr val="3F3F3F"/>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18" name="Google Shape;118;p30"/>
          <p:cNvSpPr txBox="1"/>
          <p:nvPr>
            <p:ph idx="2"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19" name="Google Shape;119;p30"/>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0"/>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0"/>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
        <p:nvSpPr>
          <p:cNvPr id="122" name="Google Shape;122;p30"/>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6000" u="none" cap="none" strike="noStrike">
                <a:solidFill>
                  <a:srgbClr val="FF3F40"/>
                </a:solidFill>
                <a:latin typeface="Arial"/>
                <a:ea typeface="Arial"/>
                <a:cs typeface="Arial"/>
                <a:sym typeface="Arial"/>
              </a:rPr>
              <a:t>“</a:t>
            </a:r>
            <a:endParaRPr/>
          </a:p>
        </p:txBody>
      </p:sp>
      <p:sp>
        <p:nvSpPr>
          <p:cNvPr id="123" name="Google Shape;123;p30"/>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6000" u="none" cap="none" strike="noStrike">
                <a:solidFill>
                  <a:srgbClr val="FF3F40"/>
                </a:solidFill>
                <a:latin typeface="Arial"/>
                <a:ea typeface="Arial"/>
                <a:cs typeface="Arial"/>
                <a:sym typeface="Arial"/>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31"/>
          <p:cNvSpPr txBox="1"/>
          <p:nvPr>
            <p:ph type="title"/>
          </p:nvPr>
        </p:nvSpPr>
        <p:spPr>
          <a:xfrm>
            <a:off x="514350" y="457200"/>
            <a:ext cx="6441152"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1"/>
          <p:cNvSpPr txBox="1"/>
          <p:nvPr>
            <p:ph idx="1" type="body"/>
          </p:nvPr>
        </p:nvSpPr>
        <p:spPr>
          <a:xfrm>
            <a:off x="507999" y="3009900"/>
            <a:ext cx="6447502" cy="385686"/>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Font typeface="Trebuchet MS"/>
              <a:buNone/>
              <a:defRPr sz="1800">
                <a:solidFill>
                  <a:schemeClr val="accent1"/>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27" name="Google Shape;127;p31"/>
          <p:cNvSpPr txBox="1"/>
          <p:nvPr>
            <p:ph idx="2"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28" name="Google Shape;128;p31"/>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1"/>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2"/>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2"/>
          <p:cNvSpPr txBox="1"/>
          <p:nvPr>
            <p:ph idx="1" type="body"/>
          </p:nvPr>
        </p:nvSpPr>
        <p:spPr>
          <a:xfrm rot="5400000">
            <a:off x="2276462" y="-148019"/>
            <a:ext cx="2910580" cy="6447501"/>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34" name="Google Shape;134;p32"/>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2"/>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2"/>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3"/>
          <p:cNvSpPr txBox="1"/>
          <p:nvPr>
            <p:ph type="title"/>
          </p:nvPr>
        </p:nvSpPr>
        <p:spPr>
          <a:xfrm rot="5400000">
            <a:off x="4495739" y="1937216"/>
            <a:ext cx="3938588" cy="97855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3"/>
          <p:cNvSpPr txBox="1"/>
          <p:nvPr>
            <p:ph idx="1" type="body"/>
          </p:nvPr>
        </p:nvSpPr>
        <p:spPr>
          <a:xfrm rot="5400000">
            <a:off x="1186264" y="-221062"/>
            <a:ext cx="3938588" cy="5295113"/>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40" name="Google Shape;140;p33"/>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3"/>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3"/>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600"/>
              <a:buFont typeface="Trebuchet MS"/>
              <a:buNone/>
              <a:defRPr/>
            </a:lvl1pPr>
            <a:lvl2pPr indent="0" lvl="1" marL="0" algn="r">
              <a:spcBef>
                <a:spcPts val="0"/>
              </a:spcBef>
              <a:spcAft>
                <a:spcPts val="0"/>
              </a:spcAft>
              <a:buClr>
                <a:schemeClr val="accent1"/>
              </a:buClr>
              <a:buSzPts val="600"/>
              <a:buFont typeface="Trebuchet MS"/>
              <a:buNone/>
              <a:defRPr/>
            </a:lvl2pPr>
            <a:lvl3pPr indent="0" lvl="2" marL="0" algn="r">
              <a:spcBef>
                <a:spcPts val="0"/>
              </a:spcBef>
              <a:spcAft>
                <a:spcPts val="0"/>
              </a:spcAft>
              <a:buClr>
                <a:schemeClr val="accent1"/>
              </a:buClr>
              <a:buSzPts val="600"/>
              <a:buFont typeface="Trebuchet MS"/>
              <a:buNone/>
              <a:defRPr/>
            </a:lvl3pPr>
            <a:lvl4pPr indent="0" lvl="3" marL="0" algn="r">
              <a:spcBef>
                <a:spcPts val="0"/>
              </a:spcBef>
              <a:spcAft>
                <a:spcPts val="0"/>
              </a:spcAft>
              <a:buClr>
                <a:schemeClr val="accent1"/>
              </a:buClr>
              <a:buSzPts val="600"/>
              <a:buFont typeface="Trebuchet MS"/>
              <a:buNone/>
              <a:defRPr/>
            </a:lvl4pPr>
            <a:lvl5pPr indent="0" lvl="4" marL="0" algn="r">
              <a:spcBef>
                <a:spcPts val="0"/>
              </a:spcBef>
              <a:spcAft>
                <a:spcPts val="0"/>
              </a:spcAft>
              <a:buClr>
                <a:schemeClr val="accent1"/>
              </a:buClr>
              <a:buSzPts val="600"/>
              <a:buFont typeface="Trebuchet MS"/>
              <a:buNone/>
              <a:defRPr/>
            </a:lvl5pPr>
            <a:lvl6pPr indent="0" lvl="5" marL="0" algn="r">
              <a:spcBef>
                <a:spcPts val="0"/>
              </a:spcBef>
              <a:spcAft>
                <a:spcPts val="0"/>
              </a:spcAft>
              <a:buClr>
                <a:schemeClr val="accent1"/>
              </a:buClr>
              <a:buSzPts val="600"/>
              <a:buFont typeface="Trebuchet MS"/>
              <a:buNone/>
              <a:defRPr/>
            </a:lvl6pPr>
            <a:lvl7pPr indent="0" lvl="6" marL="0" algn="r">
              <a:spcBef>
                <a:spcPts val="0"/>
              </a:spcBef>
              <a:spcAft>
                <a:spcPts val="0"/>
              </a:spcAft>
              <a:buClr>
                <a:schemeClr val="accent1"/>
              </a:buClr>
              <a:buSzPts val="600"/>
              <a:buFont typeface="Trebuchet MS"/>
              <a:buNone/>
              <a:defRPr/>
            </a:lvl7pPr>
            <a:lvl8pPr indent="0" lvl="7" marL="0" algn="r">
              <a:spcBef>
                <a:spcPts val="0"/>
              </a:spcBef>
              <a:spcAft>
                <a:spcPts val="0"/>
              </a:spcAft>
              <a:buClr>
                <a:schemeClr val="accent1"/>
              </a:buClr>
              <a:buSzPts val="600"/>
              <a:buFont typeface="Trebuchet MS"/>
              <a:buNone/>
              <a:defRPr/>
            </a:lvl8pPr>
            <a:lvl9pPr indent="0" lvl="8" marL="0" algn="r">
              <a:spcBef>
                <a:spcPts val="0"/>
              </a:spcBef>
              <a:spcAft>
                <a:spcPts val="0"/>
              </a:spcAft>
              <a:buClr>
                <a:schemeClr val="accent1"/>
              </a:buClr>
              <a:buSzPts val="600"/>
              <a:buFont typeface="Trebuchet MS"/>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6"/>
          <p:cNvGrpSpPr/>
          <p:nvPr/>
        </p:nvGrpSpPr>
        <p:grpSpPr>
          <a:xfrm>
            <a:off x="0" y="-6350"/>
            <a:ext cx="9144000" cy="5149850"/>
            <a:chOff x="0" y="-8467"/>
            <a:chExt cx="12192000" cy="6866467"/>
          </a:xfrm>
        </p:grpSpPr>
        <p:cxnSp>
          <p:nvCxnSpPr>
            <p:cNvPr id="7" name="Google Shape;7;p16"/>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16"/>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1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1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6"/>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075A2">
                <a:alpha val="69803"/>
              </a:srgbClr>
            </a:solidFill>
            <a:ln>
              <a:noFill/>
            </a:ln>
          </p:spPr>
        </p:sp>
        <p:sp>
          <p:nvSpPr>
            <p:cNvPr id="13" name="Google Shape;13;p1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F3F40">
                <a:alpha val="69803"/>
              </a:srgbClr>
            </a:solidFill>
            <a:ln>
              <a:noFill/>
            </a:ln>
          </p:spPr>
        </p:sp>
        <p:sp>
          <p:nvSpPr>
            <p:cNvPr id="14" name="Google Shape;14;p1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16"/>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6"/>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16"/>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6"/>
          <p:cNvSpPr txBox="1"/>
          <p:nvPr>
            <p:ph idx="1" type="body"/>
          </p:nvPr>
        </p:nvSpPr>
        <p:spPr>
          <a:xfrm>
            <a:off x="508001" y="1620442"/>
            <a:ext cx="6447501" cy="2910580"/>
          </a:xfrm>
          <a:prstGeom prst="rect">
            <a:avLst/>
          </a:prstGeom>
          <a:noFill/>
          <a:ln>
            <a:noFill/>
          </a:ln>
        </p:spPr>
        <p:txBody>
          <a:bodyPr anchorCtr="0" anchor="t" bIns="45700" lIns="91425" spcFirstLastPara="1" rIns="91425" wrap="square" tIns="45700">
            <a:normAutofit/>
          </a:bodyPr>
          <a:lstStyle>
            <a:lvl1pPr indent="-297180" lvl="0" marL="457200" marR="0" rtl="0" algn="l">
              <a:spcBef>
                <a:spcPts val="750"/>
              </a:spcBef>
              <a:spcAft>
                <a:spcPts val="0"/>
              </a:spcAft>
              <a:buClr>
                <a:schemeClr val="accent1"/>
              </a:buClr>
              <a:buSzPts val="1080"/>
              <a:buFont typeface="Noto Sans Symbols"/>
              <a:buChar char="►"/>
              <a:defRPr b="0" i="0" sz="1350" u="none" cap="none" strike="noStrike">
                <a:solidFill>
                  <a:srgbClr val="3F3F3F"/>
                </a:solidFill>
                <a:latin typeface="Trebuchet MS"/>
                <a:ea typeface="Trebuchet MS"/>
                <a:cs typeface="Trebuchet MS"/>
                <a:sym typeface="Trebuchet MS"/>
              </a:defRPr>
            </a:lvl1pPr>
            <a:lvl2pPr indent="-289560" lvl="1" marL="914400" marR="0" rtl="0" algn="l">
              <a:spcBef>
                <a:spcPts val="75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2pPr>
            <a:lvl3pPr indent="-281939" lvl="2" marL="1371600" marR="0" rtl="0" algn="l">
              <a:spcBef>
                <a:spcPts val="750"/>
              </a:spcBef>
              <a:spcAft>
                <a:spcPts val="0"/>
              </a:spcAft>
              <a:buClr>
                <a:schemeClr val="accent1"/>
              </a:buClr>
              <a:buSzPts val="840"/>
              <a:buFont typeface="Noto Sans Symbols"/>
              <a:buChar char="►"/>
              <a:defRPr b="0" i="0" sz="1050" u="none" cap="none" strike="noStrike">
                <a:solidFill>
                  <a:srgbClr val="3F3F3F"/>
                </a:solidFill>
                <a:latin typeface="Trebuchet MS"/>
                <a:ea typeface="Trebuchet MS"/>
                <a:cs typeface="Trebuchet MS"/>
                <a:sym typeface="Trebuchet MS"/>
              </a:defRPr>
            </a:lvl3pPr>
            <a:lvl4pPr indent="-274319" lvl="3" marL="18288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4pPr>
            <a:lvl5pPr indent="-274320" lvl="4" marL="22860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5pPr>
            <a:lvl6pPr indent="-274320" lvl="5" marL="27432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6pPr>
            <a:lvl7pPr indent="-274320" lvl="6" marL="32004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7pPr>
            <a:lvl8pPr indent="-274320" lvl="7" marL="36576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8pPr>
            <a:lvl9pPr indent="-274320" lvl="8" marL="41148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19" name="Google Shape;19;p16"/>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675"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16"/>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16"/>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1pPr>
            <a:lvl2pPr indent="0" lvl="1"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2pPr>
            <a:lvl3pPr indent="0" lvl="2"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3pPr>
            <a:lvl4pPr indent="0" lvl="3"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4pPr>
            <a:lvl5pPr indent="0" lvl="4"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5pPr>
            <a:lvl6pPr indent="0" lvl="5"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6pPr>
            <a:lvl7pPr indent="0" lvl="6"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7pPr>
            <a:lvl8pPr indent="0" lvl="7"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8pPr>
            <a:lvl9pPr indent="0" lvl="8" marL="0" marR="0" rtl="0" algn="r">
              <a:spcBef>
                <a:spcPts val="0"/>
              </a:spcBef>
              <a:spcAft>
                <a:spcPts val="0"/>
              </a:spcAft>
              <a:buClr>
                <a:schemeClr val="accent1"/>
              </a:buClr>
              <a:buSzPts val="675"/>
              <a:buFont typeface="Trebuchet MS"/>
              <a:buNone/>
              <a:defRPr b="0" i="0" sz="675"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30300" y="1803400"/>
            <a:ext cx="5825202" cy="1234727"/>
          </a:xfrm>
          <a:prstGeom prst="rect">
            <a:avLst/>
          </a:prstGeom>
          <a:noFill/>
          <a:ln>
            <a:noFill/>
          </a:ln>
        </p:spPr>
        <p:txBody>
          <a:bodyPr anchorCtr="0" anchor="b" bIns="91425" lIns="91425" spcFirstLastPara="1" rIns="91425" wrap="square" tIns="91425">
            <a:normAutofit fontScale="90000"/>
          </a:bodyPr>
          <a:lstStyle/>
          <a:p>
            <a:pPr indent="0" lvl="0" marL="0" rtl="0" algn="ctr">
              <a:spcBef>
                <a:spcPts val="0"/>
              </a:spcBef>
              <a:spcAft>
                <a:spcPts val="0"/>
              </a:spcAft>
              <a:buClr>
                <a:schemeClr val="accent1"/>
              </a:buClr>
              <a:buSzPct val="98765"/>
              <a:buFont typeface="Trebuchet MS"/>
              <a:buNone/>
            </a:pPr>
            <a:r>
              <a:rPr lang="en-GB"/>
              <a:t>Forecasting the Effect of Climate Change on Energy Demand</a:t>
            </a:r>
            <a:endParaRPr/>
          </a:p>
        </p:txBody>
      </p:sp>
      <p:sp>
        <p:nvSpPr>
          <p:cNvPr id="148" name="Google Shape;148;p1"/>
          <p:cNvSpPr txBox="1"/>
          <p:nvPr>
            <p:ph idx="1" type="subTitle"/>
          </p:nvPr>
        </p:nvSpPr>
        <p:spPr>
          <a:xfrm>
            <a:off x="1130300" y="3038125"/>
            <a:ext cx="5825202" cy="822674"/>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SzPts val="1040"/>
              <a:buNone/>
            </a:pPr>
            <a:r>
              <a:rPr lang="en-GB"/>
              <a:t>Adam, Daniel, Alex, Bob, Jack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Introduction: Power and Population </a:t>
            </a:r>
            <a:endParaRPr/>
          </a:p>
        </p:txBody>
      </p:sp>
      <p:sp>
        <p:nvSpPr>
          <p:cNvPr id="154" name="Google Shape;154;p2"/>
          <p:cNvSpPr txBox="1"/>
          <p:nvPr>
            <p:ph idx="1" type="body"/>
          </p:nvPr>
        </p:nvSpPr>
        <p:spPr>
          <a:xfrm>
            <a:off x="311700" y="1152475"/>
            <a:ext cx="5089200"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Power is the rate at which energy is transferred, measured in watts. </a:t>
            </a:r>
            <a:endParaRPr/>
          </a:p>
          <a:p>
            <a:pPr indent="0" lvl="0" marL="0" rtl="0" algn="l">
              <a:spcBef>
                <a:spcPts val="1200"/>
              </a:spcBef>
              <a:spcAft>
                <a:spcPts val="0"/>
              </a:spcAft>
              <a:buSzPts val="1800"/>
              <a:buNone/>
            </a:pPr>
            <a:r>
              <a:rPr lang="en-GB"/>
              <a:t>Under the National Electricity Market, it provides energy to around 80% of Australians</a:t>
            </a:r>
            <a:endParaRPr/>
          </a:p>
          <a:p>
            <a:pPr indent="0" lvl="0" marL="0" rtl="0" algn="l">
              <a:spcBef>
                <a:spcPts val="1200"/>
              </a:spcBef>
              <a:spcAft>
                <a:spcPts val="1200"/>
              </a:spcAft>
              <a:buSzPts val="1800"/>
              <a:buNone/>
            </a:pPr>
            <a:r>
              <a:rPr lang="en-GB"/>
              <a:t>As the years pass, individual households used more energy per capita. </a:t>
            </a:r>
            <a:endParaRPr/>
          </a:p>
        </p:txBody>
      </p:sp>
      <p:pic>
        <p:nvPicPr>
          <p:cNvPr id="155" name="Google Shape;155;p2"/>
          <p:cNvPicPr preferRelativeResize="0"/>
          <p:nvPr/>
        </p:nvPicPr>
        <p:blipFill rotWithShape="1">
          <a:blip r:embed="rId3">
            <a:alphaModFix/>
          </a:blip>
          <a:srcRect b="0" l="0" r="0" t="0"/>
          <a:stretch/>
        </p:blipFill>
        <p:spPr>
          <a:xfrm>
            <a:off x="5350950" y="1472050"/>
            <a:ext cx="3481350" cy="3096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Introduction: Policies on Energy Demand </a:t>
            </a:r>
            <a:endParaRPr/>
          </a:p>
        </p:txBody>
      </p:sp>
      <p:sp>
        <p:nvSpPr>
          <p:cNvPr id="161" name="Google Shape;161;p3"/>
          <p:cNvSpPr txBox="1"/>
          <p:nvPr>
            <p:ph idx="1" type="body"/>
          </p:nvPr>
        </p:nvSpPr>
        <p:spPr>
          <a:xfrm>
            <a:off x="311700" y="1152475"/>
            <a:ext cx="4910400"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Under the Energy Sector Emissions Reduction Pledge, the Victorian Government details their action plans for the future. </a:t>
            </a:r>
            <a:endParaRPr/>
          </a:p>
          <a:p>
            <a:pPr indent="0" lvl="0" marL="0" rtl="0" algn="l">
              <a:spcBef>
                <a:spcPts val="1200"/>
              </a:spcBef>
              <a:spcAft>
                <a:spcPts val="0"/>
              </a:spcAft>
              <a:buSzPts val="1800"/>
              <a:buNone/>
            </a:pPr>
            <a:r>
              <a:rPr lang="en-GB"/>
              <a:t>The Solar Homes Program aims to increase usage of renewable energy to build a decarbonised energy system.</a:t>
            </a:r>
            <a:endParaRPr/>
          </a:p>
          <a:p>
            <a:pPr indent="0" lvl="0" marL="0" rtl="0" algn="l">
              <a:spcBef>
                <a:spcPts val="1200"/>
              </a:spcBef>
              <a:spcAft>
                <a:spcPts val="1200"/>
              </a:spcAft>
              <a:buSzPts val="1800"/>
              <a:buNone/>
            </a:pPr>
            <a:r>
              <a:rPr lang="en-GB"/>
              <a:t>The Victorian Energy Upgrade Program will install energy-saving items to help Victorians save on their energy bills.  </a:t>
            </a:r>
            <a:endParaRPr/>
          </a:p>
        </p:txBody>
      </p:sp>
      <p:pic>
        <p:nvPicPr>
          <p:cNvPr id="162" name="Google Shape;162;p3"/>
          <p:cNvPicPr preferRelativeResize="0"/>
          <p:nvPr/>
        </p:nvPicPr>
        <p:blipFill rotWithShape="1">
          <a:blip r:embed="rId3">
            <a:alphaModFix/>
          </a:blip>
          <a:srcRect b="0" l="-23001" r="0" t="0"/>
          <a:stretch/>
        </p:blipFill>
        <p:spPr>
          <a:xfrm>
            <a:off x="4885975" y="1888575"/>
            <a:ext cx="3946325" cy="2680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Introduction: Research Question and Project Plan</a:t>
            </a:r>
            <a:endParaRPr/>
          </a:p>
        </p:txBody>
      </p:sp>
      <p:sp>
        <p:nvSpPr>
          <p:cNvPr id="168" name="Google Shape;168;p4"/>
          <p:cNvSpPr txBox="1"/>
          <p:nvPr>
            <p:ph idx="1" type="body"/>
          </p:nvPr>
        </p:nvSpPr>
        <p:spPr>
          <a:xfrm>
            <a:off x="311700" y="1152475"/>
            <a:ext cx="52752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lang="en-GB"/>
              <a:t>“Through plotting local temperature against energy demand in MW, how accurately can we predict the expected energy demand in a chosen year assuming a 2 degree increase in global temperatures by 2050 due to climate change?”</a:t>
            </a:r>
            <a:endParaRPr/>
          </a:p>
          <a:p>
            <a:pPr indent="0" lvl="0" marL="0" rtl="0" algn="l">
              <a:lnSpc>
                <a:spcPct val="107916"/>
              </a:lnSpc>
              <a:spcBef>
                <a:spcPts val="800"/>
              </a:spcBef>
              <a:spcAft>
                <a:spcPts val="800"/>
              </a:spcAft>
              <a:buClr>
                <a:schemeClr val="dk1"/>
              </a:buClr>
              <a:buSzPts val="1100"/>
              <a:buFont typeface="Arial"/>
              <a:buNone/>
            </a:pPr>
            <a:r>
              <a:rPr lang="en-GB"/>
              <a:t>Looking at climate model simulations, the project will follow the green model line as it would reflect humanity’s most realistic carbon emissions path in the future. </a:t>
            </a:r>
            <a:endParaRPr>
              <a:solidFill>
                <a:schemeClr val="dk1"/>
              </a:solidFill>
            </a:endParaRPr>
          </a:p>
        </p:txBody>
      </p:sp>
      <p:pic>
        <p:nvPicPr>
          <p:cNvPr id="169" name="Google Shape;169;p4"/>
          <p:cNvPicPr preferRelativeResize="0"/>
          <p:nvPr/>
        </p:nvPicPr>
        <p:blipFill rotWithShape="1">
          <a:blip r:embed="rId3">
            <a:alphaModFix/>
          </a:blip>
          <a:srcRect b="0" l="0" r="0" t="0"/>
          <a:stretch/>
        </p:blipFill>
        <p:spPr>
          <a:xfrm>
            <a:off x="5586900" y="2110325"/>
            <a:ext cx="3302500" cy="2458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5"/>
          <p:cNvPicPr preferRelativeResize="0"/>
          <p:nvPr/>
        </p:nvPicPr>
        <p:blipFill rotWithShape="1">
          <a:blip r:embed="rId3">
            <a:alphaModFix/>
          </a:blip>
          <a:srcRect b="39008" l="0" r="0" t="0"/>
          <a:stretch/>
        </p:blipFill>
        <p:spPr>
          <a:xfrm>
            <a:off x="5856750" y="3332300"/>
            <a:ext cx="3076575" cy="1812525"/>
          </a:xfrm>
          <a:prstGeom prst="rect">
            <a:avLst/>
          </a:prstGeom>
          <a:noFill/>
          <a:ln cap="flat" cmpd="sng" w="9525">
            <a:solidFill>
              <a:schemeClr val="dk2"/>
            </a:solidFill>
            <a:prstDash val="solid"/>
            <a:round/>
            <a:headEnd len="sm" w="sm" type="none"/>
            <a:tailEnd len="sm" w="sm" type="none"/>
          </a:ln>
        </p:spPr>
      </p:pic>
      <p:sp>
        <p:nvSpPr>
          <p:cNvPr id="175" name="Google Shape;175;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Pre-Processing : Input Data</a:t>
            </a:r>
            <a:endParaRPr/>
          </a:p>
        </p:txBody>
      </p:sp>
      <p:sp>
        <p:nvSpPr>
          <p:cNvPr id="176" name="Google Shape;176;p5"/>
          <p:cNvSpPr txBox="1"/>
          <p:nvPr>
            <p:ph idx="1" type="body"/>
          </p:nvPr>
        </p:nvSpPr>
        <p:spPr>
          <a:xfrm>
            <a:off x="311700" y="1000075"/>
            <a:ext cx="7702747" cy="3869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The raw data came in the form of 1146 .csv documents, containing an observation for every half-hour for 20 years (2000 → 2020).</a:t>
            </a:r>
            <a:endParaRPr/>
          </a:p>
          <a:p>
            <a:pPr indent="0" lvl="0" marL="0" rtl="0" algn="l">
              <a:spcBef>
                <a:spcPts val="1200"/>
              </a:spcBef>
              <a:spcAft>
                <a:spcPts val="0"/>
              </a:spcAft>
              <a:buSzPts val="1800"/>
              <a:buNone/>
            </a:pPr>
            <a:r>
              <a:rPr lang="en-GB"/>
              <a:t>This data was compiled into a single dataframe per state, each containing ~350,000 datapoints. This dataframe used a datetime variable as its index, allowing us to easily manipulate the data based on time.</a:t>
            </a:r>
            <a:endParaRPr/>
          </a:p>
          <a:p>
            <a:pPr indent="0" lvl="0" marL="0" rtl="0" algn="l">
              <a:spcBef>
                <a:spcPts val="1200"/>
              </a:spcBef>
              <a:spcAft>
                <a:spcPts val="0"/>
              </a:spcAft>
              <a:buSzPts val="1800"/>
              <a:buNone/>
            </a:pPr>
            <a:r>
              <a:rPr lang="en-GB"/>
              <a:t>Missing variables were imputed based on their 2 nearest neighbours, and missing variables with no neighbours were dropped from the data.</a:t>
            </a:r>
            <a:endParaRPr/>
          </a:p>
          <a:p>
            <a:pPr indent="0" lvl="0" marL="0" rtl="0" algn="l">
              <a:spcBef>
                <a:spcPts val="1200"/>
              </a:spcBef>
              <a:spcAft>
                <a:spcPts val="0"/>
              </a:spcAft>
              <a:buSzPts val="1800"/>
              <a:buNone/>
            </a:pPr>
            <a:r>
              <a:rPr lang="en-GB"/>
              <a:t>After pre-processing, we are left with a single dataframe with the following variables:</a:t>
            </a:r>
            <a:endParaRPr/>
          </a:p>
          <a:p>
            <a:pPr indent="-325755" lvl="0" marL="457200" rtl="0" algn="l">
              <a:spcBef>
                <a:spcPts val="1200"/>
              </a:spcBef>
              <a:spcAft>
                <a:spcPts val="0"/>
              </a:spcAft>
              <a:buSzPts val="1300"/>
              <a:buChar char="●"/>
            </a:pPr>
            <a:r>
              <a:rPr lang="en-GB"/>
              <a:t>The date and time of the observation (index)</a:t>
            </a:r>
            <a:endParaRPr/>
          </a:p>
          <a:p>
            <a:pPr indent="-325755" lvl="0" marL="457200" rtl="0" algn="l">
              <a:spcBef>
                <a:spcPts val="0"/>
              </a:spcBef>
              <a:spcAft>
                <a:spcPts val="0"/>
              </a:spcAft>
              <a:buSzPts val="1300"/>
              <a:buChar char="●"/>
            </a:pPr>
            <a:r>
              <a:rPr lang="en-GB"/>
              <a:t>Energy demand</a:t>
            </a:r>
            <a:endParaRPr/>
          </a:p>
          <a:p>
            <a:pPr indent="-325755" lvl="0" marL="457200" rtl="0" algn="l">
              <a:spcBef>
                <a:spcPts val="0"/>
              </a:spcBef>
              <a:spcAft>
                <a:spcPts val="0"/>
              </a:spcAft>
              <a:buSzPts val="1300"/>
              <a:buChar char="●"/>
            </a:pPr>
            <a:r>
              <a:rPr lang="en-GB"/>
              <a:t>Energy price</a:t>
            </a:r>
            <a:endParaRPr/>
          </a:p>
          <a:p>
            <a:pPr indent="-325755" lvl="0" marL="457200" rtl="0" algn="l">
              <a:spcBef>
                <a:spcPts val="0"/>
              </a:spcBef>
              <a:spcAft>
                <a:spcPts val="0"/>
              </a:spcAft>
              <a:buSzPts val="1300"/>
              <a:buChar char="●"/>
            </a:pPr>
            <a:r>
              <a:rPr lang="en-GB"/>
              <a:t>Air temperature</a:t>
            </a:r>
            <a:endParaRPr/>
          </a:p>
          <a:p>
            <a:pPr indent="0" lvl="0" marL="0" rtl="0" algn="l">
              <a:spcBef>
                <a:spcPts val="1200"/>
              </a:spcBef>
              <a:spcAft>
                <a:spcPts val="1200"/>
              </a:spcAft>
              <a:buSzPts val="1800"/>
              <a:buNone/>
            </a:pPr>
            <a:r>
              <a:rPr lang="en-GB"/>
              <a:t>Only Victorian data from 2015-2020 was used for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Exploratory Data Analysis</a:t>
            </a:r>
            <a:endParaRPr/>
          </a:p>
        </p:txBody>
      </p:sp>
      <p:sp>
        <p:nvSpPr>
          <p:cNvPr id="182" name="Google Shape;182;p6"/>
          <p:cNvSpPr txBox="1"/>
          <p:nvPr>
            <p:ph idx="1" type="body"/>
          </p:nvPr>
        </p:nvSpPr>
        <p:spPr>
          <a:xfrm>
            <a:off x="210850" y="1059499"/>
            <a:ext cx="7622062" cy="2329159"/>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sz="1400"/>
              <a:t>Through inspection of the rolling means graph, we see that both temperature and energy demand follow a seasonal trend. </a:t>
            </a:r>
            <a:endParaRPr sz="1400"/>
          </a:p>
          <a:p>
            <a:pPr indent="0" lvl="0" marL="0" rtl="0" algn="l">
              <a:spcBef>
                <a:spcPts val="1200"/>
              </a:spcBef>
              <a:spcAft>
                <a:spcPts val="0"/>
              </a:spcAft>
              <a:buSzPts val="1800"/>
              <a:buNone/>
            </a:pPr>
            <a:r>
              <a:rPr lang="en-GB" sz="1400"/>
              <a:t>Demand is high when temperature is extremely high or extremely low. Interestingly, demand is higher when temperatures are extremely high than when temperatures are extremely low.</a:t>
            </a:r>
            <a:endParaRPr sz="1400"/>
          </a:p>
          <a:p>
            <a:pPr indent="0" lvl="0" marL="0" rtl="0" algn="l">
              <a:spcBef>
                <a:spcPts val="1200"/>
              </a:spcBef>
              <a:spcAft>
                <a:spcPts val="1200"/>
              </a:spcAft>
              <a:buSzPts val="1800"/>
              <a:buNone/>
            </a:pPr>
            <a:r>
              <a:rPr lang="en-GB" sz="1400"/>
              <a:t>While the correlation between temperature and energy demand is only 0.135, the non-linear relationship between the 2 variables means that the linear correlation does not give a true indicator of their relationship.</a:t>
            </a:r>
            <a:endParaRPr sz="1400"/>
          </a:p>
        </p:txBody>
      </p:sp>
      <p:pic>
        <p:nvPicPr>
          <p:cNvPr id="183" name="Google Shape;183;p6"/>
          <p:cNvPicPr preferRelativeResize="0"/>
          <p:nvPr/>
        </p:nvPicPr>
        <p:blipFill rotWithShape="1">
          <a:blip r:embed="rId3">
            <a:alphaModFix/>
          </a:blip>
          <a:srcRect b="0" l="0" r="0" t="0"/>
          <a:stretch/>
        </p:blipFill>
        <p:spPr>
          <a:xfrm>
            <a:off x="5236450" y="3120250"/>
            <a:ext cx="2761675" cy="1943650"/>
          </a:xfrm>
          <a:prstGeom prst="rect">
            <a:avLst/>
          </a:prstGeom>
          <a:noFill/>
          <a:ln>
            <a:noFill/>
          </a:ln>
        </p:spPr>
      </p:pic>
      <p:pic>
        <p:nvPicPr>
          <p:cNvPr id="184" name="Google Shape;184;p6"/>
          <p:cNvPicPr preferRelativeResize="0"/>
          <p:nvPr/>
        </p:nvPicPr>
        <p:blipFill rotWithShape="1">
          <a:blip r:embed="rId4">
            <a:alphaModFix/>
          </a:blip>
          <a:srcRect b="0" l="0" r="0" t="0"/>
          <a:stretch/>
        </p:blipFill>
        <p:spPr>
          <a:xfrm>
            <a:off x="820575" y="3207325"/>
            <a:ext cx="2520100" cy="1856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Normalization</a:t>
            </a:r>
            <a:endParaRPr/>
          </a:p>
        </p:txBody>
      </p:sp>
      <p:sp>
        <p:nvSpPr>
          <p:cNvPr id="190" name="Google Shape;190;p7"/>
          <p:cNvSpPr txBox="1"/>
          <p:nvPr>
            <p:ph idx="1" type="body"/>
          </p:nvPr>
        </p:nvSpPr>
        <p:spPr>
          <a:xfrm>
            <a:off x="311700" y="1304875"/>
            <a:ext cx="7077459"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Normalisation occurs to account for the differences in the scale for each variable. </a:t>
            </a:r>
            <a:endParaRPr/>
          </a:p>
          <a:p>
            <a:pPr indent="0" lvl="0" marL="0" rtl="0" algn="l">
              <a:spcBef>
                <a:spcPts val="1200"/>
              </a:spcBef>
              <a:spcAft>
                <a:spcPts val="0"/>
              </a:spcAft>
              <a:buSzPts val="1800"/>
              <a:buNone/>
            </a:pPr>
            <a:r>
              <a:rPr lang="en-GB"/>
              <a:t>In this project, linear regression and support vector regression are the models that require normalization</a:t>
            </a:r>
            <a:endParaRPr/>
          </a:p>
          <a:p>
            <a:pPr indent="0" lvl="0" marL="0" rtl="0" algn="l">
              <a:spcBef>
                <a:spcPts val="1200"/>
              </a:spcBef>
              <a:spcAft>
                <a:spcPts val="1200"/>
              </a:spcAft>
              <a:buSzPts val="1800"/>
              <a:buNone/>
            </a:pPr>
            <a:r>
              <a:rPr lang="en-GB"/>
              <a:t>Random Forests do not require normalisation because the domain of data that determines the outcome for each new decision tree is localised, minimising the effect that the magnitude of feature variables has on the final prediction.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Model 1: Simple Linear regression</a:t>
            </a:r>
            <a:endParaRPr/>
          </a:p>
        </p:txBody>
      </p:sp>
      <p:sp>
        <p:nvSpPr>
          <p:cNvPr id="196" name="Google Shape;196;p8"/>
          <p:cNvSpPr txBox="1"/>
          <p:nvPr>
            <p:ph idx="1" type="body"/>
          </p:nvPr>
        </p:nvSpPr>
        <p:spPr>
          <a:xfrm>
            <a:off x="425200" y="1059375"/>
            <a:ext cx="7253071" cy="3898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A simple linear model was fit to the normalised data, resulting in the following relationship:</a:t>
            </a:r>
            <a:endParaRPr/>
          </a:p>
          <a:p>
            <a:pPr indent="0" lvl="0" marL="0" rtl="0" algn="ctr">
              <a:spcBef>
                <a:spcPts val="1200"/>
              </a:spcBef>
              <a:spcAft>
                <a:spcPts val="0"/>
              </a:spcAft>
              <a:buSzPts val="1800"/>
              <a:buNone/>
            </a:pPr>
            <a:r>
              <a:rPr i="1" lang="en-GB"/>
              <a:t>Demand = 20.30 × Temperature + 4697.78</a:t>
            </a:r>
            <a:endParaRPr/>
          </a:p>
          <a:p>
            <a:pPr indent="0" lvl="0" marL="0" rtl="0" algn="l">
              <a:spcBef>
                <a:spcPts val="1200"/>
              </a:spcBef>
              <a:spcAft>
                <a:spcPts val="1200"/>
              </a:spcAft>
              <a:buSzPts val="1800"/>
              <a:buNone/>
            </a:pPr>
            <a:r>
              <a:rPr lang="en-GB"/>
              <a:t>This model had very low testing scores and high error metrics, indicating that a linear model does not fit our data well. </a:t>
            </a:r>
            <a:endParaRPr/>
          </a:p>
        </p:txBody>
      </p:sp>
      <p:pic>
        <p:nvPicPr>
          <p:cNvPr id="197" name="Google Shape;197;p8"/>
          <p:cNvPicPr preferRelativeResize="0"/>
          <p:nvPr/>
        </p:nvPicPr>
        <p:blipFill rotWithShape="1">
          <a:blip r:embed="rId3">
            <a:alphaModFix/>
          </a:blip>
          <a:srcRect b="0" l="0" r="0" t="0"/>
          <a:stretch/>
        </p:blipFill>
        <p:spPr>
          <a:xfrm>
            <a:off x="710476" y="2514125"/>
            <a:ext cx="3735975" cy="2629375"/>
          </a:xfrm>
          <a:prstGeom prst="rect">
            <a:avLst/>
          </a:prstGeom>
          <a:noFill/>
          <a:ln>
            <a:noFill/>
          </a:ln>
        </p:spPr>
      </p:pic>
      <p:sp>
        <p:nvSpPr>
          <p:cNvPr id="198" name="Google Shape;198;p8"/>
          <p:cNvSpPr txBox="1"/>
          <p:nvPr/>
        </p:nvSpPr>
        <p:spPr>
          <a:xfrm>
            <a:off x="4572000" y="2641340"/>
            <a:ext cx="3943800" cy="2179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Training score: </a:t>
            </a:r>
            <a:r>
              <a:rPr b="0" i="0" lang="en-GB" sz="1600" u="none" cap="none" strike="noStrike">
                <a:solidFill>
                  <a:schemeClr val="dk2"/>
                </a:solidFill>
                <a:latin typeface="Trebuchet MS"/>
                <a:ea typeface="Trebuchet MS"/>
                <a:cs typeface="Trebuchet MS"/>
                <a:sym typeface="Trebuchet MS"/>
              </a:rPr>
              <a:t>0.0176</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Testing score: </a:t>
            </a:r>
            <a:r>
              <a:rPr b="0" i="0" lang="en-GB" sz="1600" u="none" cap="none" strike="noStrike">
                <a:solidFill>
                  <a:schemeClr val="dk2"/>
                </a:solidFill>
                <a:latin typeface="Trebuchet MS"/>
                <a:ea typeface="Trebuchet MS"/>
                <a:cs typeface="Trebuchet MS"/>
                <a:sym typeface="Trebuchet MS"/>
              </a:rPr>
              <a:t>0.0207</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0"/>
              </a:spcAft>
              <a:buClr>
                <a:schemeClr val="dk1"/>
              </a:buClr>
              <a:buSzPts val="1600"/>
              <a:buFont typeface="Trebuchet MS"/>
              <a:buNone/>
            </a:pPr>
            <a:r>
              <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0"/>
              </a:spcAft>
              <a:buClr>
                <a:schemeClr val="dk1"/>
              </a:buClr>
              <a:buSzPts val="1100"/>
              <a:buFont typeface="Arial"/>
              <a:buNone/>
            </a:pPr>
            <a:r>
              <a:rPr b="1" i="0" lang="en-GB" sz="1600" u="none" cap="none" strike="noStrike">
                <a:solidFill>
                  <a:schemeClr val="dk2"/>
                </a:solidFill>
                <a:latin typeface="Trebuchet MS"/>
                <a:ea typeface="Trebuchet MS"/>
                <a:cs typeface="Trebuchet MS"/>
                <a:sym typeface="Trebuchet MS"/>
              </a:rPr>
              <a:t>Root mean square error: </a:t>
            </a:r>
            <a:r>
              <a:rPr b="0" i="0" lang="en-GB" sz="1600" u="none" cap="none" strike="noStrike">
                <a:solidFill>
                  <a:schemeClr val="dk2"/>
                </a:solidFill>
                <a:latin typeface="Trebuchet MS"/>
                <a:ea typeface="Trebuchet MS"/>
                <a:cs typeface="Trebuchet MS"/>
                <a:sym typeface="Trebuchet MS"/>
              </a:rPr>
              <a:t>859.86</a:t>
            </a:r>
            <a:endParaRPr b="1"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120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Mean absolute error: </a:t>
            </a:r>
            <a:r>
              <a:rPr b="0" i="0" lang="en-GB" sz="1600" u="none" cap="none" strike="noStrike">
                <a:solidFill>
                  <a:schemeClr val="dk2"/>
                </a:solidFill>
                <a:latin typeface="Trebuchet MS"/>
                <a:ea typeface="Trebuchet MS"/>
                <a:cs typeface="Trebuchet MS"/>
                <a:sym typeface="Trebuchet MS"/>
              </a:rPr>
              <a:t>696.63</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Model 2: Random Forests Regression </a:t>
            </a:r>
            <a:endParaRPr/>
          </a:p>
        </p:txBody>
      </p:sp>
      <p:sp>
        <p:nvSpPr>
          <p:cNvPr id="204" name="Google Shape;204;p9"/>
          <p:cNvSpPr txBox="1"/>
          <p:nvPr>
            <p:ph idx="1" type="body"/>
          </p:nvPr>
        </p:nvSpPr>
        <p:spPr>
          <a:xfrm>
            <a:off x="425200" y="1059375"/>
            <a:ext cx="7253071" cy="38982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SzPts val="1800"/>
              <a:buNone/>
            </a:pPr>
            <a:r>
              <a:rPr lang="en-GB"/>
              <a:t>A ‘greedy’ algorithm that minimises the sum of squared errors at each ‘decision tree’ regardless of overall effect to accuracy, precision or other metrics. Thus, cross validation is unnecessary.</a:t>
            </a:r>
            <a:endParaRPr/>
          </a:p>
          <a:p>
            <a:pPr indent="0" lvl="0" marL="0" marR="0" rtl="0" algn="l">
              <a:lnSpc>
                <a:spcPct val="115000"/>
              </a:lnSpc>
              <a:spcBef>
                <a:spcPts val="1200"/>
              </a:spcBef>
              <a:spcAft>
                <a:spcPts val="0"/>
              </a:spcAft>
              <a:buSzPts val="1800"/>
              <a:buNone/>
            </a:pPr>
            <a:r>
              <a:rPr b="1" lang="en-GB"/>
              <a:t>Advantages</a:t>
            </a:r>
            <a:r>
              <a:rPr lang="en-GB"/>
              <a:t>: Regularisation is not necessary because there is no penalty cost function. Optimises cross validation parameters automatically such that variance is reduced as much as possible without increasing bias.</a:t>
            </a:r>
            <a:endParaRPr/>
          </a:p>
          <a:p>
            <a:pPr indent="0" lvl="0" marL="0" marR="0" rtl="0" algn="l">
              <a:lnSpc>
                <a:spcPct val="115000"/>
              </a:lnSpc>
              <a:spcBef>
                <a:spcPts val="1200"/>
              </a:spcBef>
              <a:spcAft>
                <a:spcPts val="0"/>
              </a:spcAft>
              <a:buSzPts val="1800"/>
              <a:buNone/>
            </a:pPr>
            <a:r>
              <a:rPr b="1" lang="en-GB"/>
              <a:t>Disadvantages</a:t>
            </a:r>
            <a:r>
              <a:rPr lang="en-GB"/>
              <a:t>: Since at each local region of data values, the average of regressed values is taken, the model is limited to the range of fitted training set values, preventing extrapolation and creating irregularities in the extreme minimum and maximum range of the observed temperatures. </a:t>
            </a:r>
            <a:endParaRPr/>
          </a:p>
          <a:p>
            <a:pPr indent="0" lvl="0" marL="0" marR="0" rtl="0" algn="l">
              <a:lnSpc>
                <a:spcPct val="115000"/>
              </a:lnSpc>
              <a:spcBef>
                <a:spcPts val="1200"/>
              </a:spcBef>
              <a:spcAft>
                <a:spcPts val="0"/>
              </a:spcAft>
              <a:buSzPts val="1800"/>
              <a:buNone/>
            </a:pPr>
            <a:r>
              <a:rPr lang="en-GB"/>
              <a:t>Why RFR may be a good fit for data: Works when data is non-linear and ‘irregular’.</a:t>
            </a:r>
            <a:endParaRPr sz="1400">
              <a:solidFill>
                <a:schemeClr val="dk1"/>
              </a:solidFill>
              <a:highlight>
                <a:srgbClr val="FFFFFF"/>
              </a:highlight>
            </a:endParaRPr>
          </a:p>
          <a:p>
            <a:pPr indent="0" lvl="0" marL="0" rtl="0" algn="l">
              <a:spcBef>
                <a:spcPts val="1200"/>
              </a:spcBef>
              <a:spcAft>
                <a:spcPts val="1200"/>
              </a:spcAft>
              <a:buSzPts val="1800"/>
              <a:buNone/>
            </a:pPr>
            <a:r>
              <a:t/>
            </a:r>
            <a:endParaRPr sz="1400">
              <a:solidFill>
                <a:schemeClr val="dk1"/>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Results of Random Forest Regression</a:t>
            </a:r>
            <a:endParaRPr/>
          </a:p>
        </p:txBody>
      </p:sp>
      <p:sp>
        <p:nvSpPr>
          <p:cNvPr id="210" name="Google Shape;210;p10"/>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Data from 1st Jan 2015 to 1st Jan 2020.</a:t>
            </a:r>
            <a:endParaRPr/>
          </a:p>
          <a:p>
            <a:pPr indent="0" lvl="0" marL="0" rtl="0" algn="l">
              <a:spcBef>
                <a:spcPts val="1200"/>
              </a:spcBef>
              <a:spcAft>
                <a:spcPts val="0"/>
              </a:spcAft>
              <a:buSzPts val="1800"/>
              <a:buNone/>
            </a:pPr>
            <a:r>
              <a:rPr lang="en-GB"/>
              <a:t>80/20 train-test split.</a:t>
            </a:r>
            <a:endParaRPr/>
          </a:p>
          <a:p>
            <a:pPr indent="0" lvl="0" marL="0" rtl="0" algn="l">
              <a:spcBef>
                <a:spcPts val="1200"/>
              </a:spcBef>
              <a:spcAft>
                <a:spcPts val="0"/>
              </a:spcAft>
              <a:buClr>
                <a:schemeClr val="dk1"/>
              </a:buClr>
              <a:buSzPts val="1100"/>
              <a:buFont typeface="Arial"/>
              <a:buNone/>
            </a:pPr>
            <a:r>
              <a:rPr lang="en-GB"/>
              <a:t>Note the oscillations on the tail ends of the model.</a:t>
            </a:r>
            <a:endParaRPr/>
          </a:p>
          <a:p>
            <a:pPr indent="0" lvl="0" marL="0" rtl="0" algn="l">
              <a:spcBef>
                <a:spcPts val="1200"/>
              </a:spcBef>
              <a:spcAft>
                <a:spcPts val="1200"/>
              </a:spcAft>
              <a:buSzPts val="1800"/>
              <a:buNone/>
            </a:pPr>
            <a:r>
              <a:t/>
            </a:r>
            <a:endParaRPr/>
          </a:p>
        </p:txBody>
      </p:sp>
      <p:sp>
        <p:nvSpPr>
          <p:cNvPr id="211" name="Google Shape;211;p10"/>
          <p:cNvSpPr txBox="1"/>
          <p:nvPr/>
        </p:nvSpPr>
        <p:spPr>
          <a:xfrm>
            <a:off x="4572000" y="2718600"/>
            <a:ext cx="3921600" cy="1305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Root Mean Square Error:</a:t>
            </a:r>
            <a:r>
              <a:rPr b="0" i="0" lang="en-GB" sz="1600" u="none" cap="none" strike="noStrike">
                <a:solidFill>
                  <a:schemeClr val="dk2"/>
                </a:solidFill>
                <a:latin typeface="Trebuchet MS"/>
                <a:ea typeface="Trebuchet MS"/>
                <a:cs typeface="Trebuchet MS"/>
                <a:sym typeface="Trebuchet MS"/>
              </a:rPr>
              <a:t> </a:t>
            </a:r>
            <a:r>
              <a:rPr b="0" i="0" lang="en-GB" sz="1600" u="none" cap="none" strike="noStrike">
                <a:solidFill>
                  <a:schemeClr val="dk1"/>
                </a:solidFill>
                <a:latin typeface="Trebuchet MS"/>
                <a:ea typeface="Trebuchet MS"/>
                <a:cs typeface="Trebuchet MS"/>
                <a:sym typeface="Trebuchet MS"/>
              </a:rPr>
              <a:t>773.603</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Mean Absolute Error: </a:t>
            </a:r>
            <a:r>
              <a:rPr b="0" i="0" lang="en-GB" sz="1600" u="none" cap="none" strike="noStrike">
                <a:solidFill>
                  <a:schemeClr val="dk1"/>
                </a:solidFill>
                <a:latin typeface="Trebuchet MS"/>
                <a:ea typeface="Trebuchet MS"/>
                <a:cs typeface="Trebuchet MS"/>
                <a:sym typeface="Trebuchet MS"/>
              </a:rPr>
              <a:t>635.443</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120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R</a:t>
            </a:r>
            <a:r>
              <a:rPr b="1" baseline="30000" i="0" lang="en-GB" sz="1600" u="none" cap="none" strike="noStrike">
                <a:solidFill>
                  <a:schemeClr val="dk2"/>
                </a:solidFill>
                <a:latin typeface="Trebuchet MS"/>
                <a:ea typeface="Trebuchet MS"/>
                <a:cs typeface="Trebuchet MS"/>
                <a:sym typeface="Trebuchet MS"/>
              </a:rPr>
              <a:t>2</a:t>
            </a:r>
            <a:r>
              <a:rPr b="1" i="0" lang="en-GB" sz="1600" u="none" cap="none" strike="noStrike">
                <a:solidFill>
                  <a:schemeClr val="dk2"/>
                </a:solidFill>
                <a:latin typeface="Trebuchet MS"/>
                <a:ea typeface="Trebuchet MS"/>
                <a:cs typeface="Trebuchet MS"/>
                <a:sym typeface="Trebuchet MS"/>
              </a:rPr>
              <a:t>:</a:t>
            </a:r>
            <a:r>
              <a:rPr b="0" i="0" lang="en-GB" sz="1600" u="none" cap="none" strike="noStrike">
                <a:solidFill>
                  <a:schemeClr val="dk2"/>
                </a:solidFill>
                <a:latin typeface="Trebuchet MS"/>
                <a:ea typeface="Trebuchet MS"/>
                <a:cs typeface="Trebuchet MS"/>
                <a:sym typeface="Trebuchet MS"/>
              </a:rPr>
              <a:t> 0.222</a:t>
            </a:r>
            <a:endParaRPr b="0" i="0" sz="1600" u="none" cap="none" strike="noStrike">
              <a:solidFill>
                <a:schemeClr val="dk2"/>
              </a:solidFill>
              <a:latin typeface="Trebuchet MS"/>
              <a:ea typeface="Trebuchet MS"/>
              <a:cs typeface="Trebuchet MS"/>
              <a:sym typeface="Trebuchet MS"/>
            </a:endParaRPr>
          </a:p>
        </p:txBody>
      </p:sp>
      <p:pic>
        <p:nvPicPr>
          <p:cNvPr id="212" name="Google Shape;212;p10"/>
          <p:cNvPicPr preferRelativeResize="0"/>
          <p:nvPr/>
        </p:nvPicPr>
        <p:blipFill rotWithShape="1">
          <a:blip r:embed="rId3">
            <a:alphaModFix/>
          </a:blip>
          <a:srcRect b="0" l="0" r="0" t="0"/>
          <a:stretch/>
        </p:blipFill>
        <p:spPr>
          <a:xfrm>
            <a:off x="552688" y="2389825"/>
            <a:ext cx="3762375" cy="2647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Model 3: Support Vector Regression</a:t>
            </a:r>
            <a:endParaRPr/>
          </a:p>
        </p:txBody>
      </p:sp>
      <p:sp>
        <p:nvSpPr>
          <p:cNvPr id="218" name="Google Shape;218;p11"/>
          <p:cNvSpPr txBox="1"/>
          <p:nvPr>
            <p:ph idx="1" type="body"/>
          </p:nvPr>
        </p:nvSpPr>
        <p:spPr>
          <a:xfrm>
            <a:off x="311700" y="1152475"/>
            <a:ext cx="6902647"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This algorithm uses support vector machine techniques to fit a regression model onto the data.</a:t>
            </a:r>
            <a:endParaRPr/>
          </a:p>
          <a:p>
            <a:pPr indent="0" lvl="0" marL="0" rtl="0" algn="l">
              <a:spcBef>
                <a:spcPts val="1200"/>
              </a:spcBef>
              <a:spcAft>
                <a:spcPts val="0"/>
              </a:spcAft>
              <a:buSzPts val="1800"/>
              <a:buNone/>
            </a:pPr>
            <a:r>
              <a:rPr b="1" lang="en-GB"/>
              <a:t>Advantages</a:t>
            </a:r>
            <a:r>
              <a:rPr lang="en-GB"/>
              <a:t>: SVR modelling is easy to generalise to many use-cases, and provides multiple kernel options to customise models. It is not overly influenced by outlier data.</a:t>
            </a:r>
            <a:endParaRPr/>
          </a:p>
          <a:p>
            <a:pPr indent="0" lvl="0" marL="0" rtl="0" algn="l">
              <a:spcBef>
                <a:spcPts val="1200"/>
              </a:spcBef>
              <a:spcAft>
                <a:spcPts val="1200"/>
              </a:spcAft>
              <a:buSzPts val="1800"/>
              <a:buNone/>
            </a:pPr>
            <a:r>
              <a:rPr b="1" lang="en-GB"/>
              <a:t>Disadvantages</a:t>
            </a:r>
            <a:r>
              <a:rPr lang="en-GB"/>
              <a:t>: It is computationally intensive and struggles with datasets with large amounts of observations.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type="title"/>
          </p:nvPr>
        </p:nvSpPr>
        <p:spPr>
          <a:xfrm>
            <a:off x="311700" y="3044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Results of Support Vector Regression</a:t>
            </a:r>
            <a:endParaRPr/>
          </a:p>
        </p:txBody>
      </p:sp>
      <p:sp>
        <p:nvSpPr>
          <p:cNvPr id="224" name="Google Shape;224;p12"/>
          <p:cNvSpPr txBox="1"/>
          <p:nvPr>
            <p:ph idx="1" type="body"/>
          </p:nvPr>
        </p:nvSpPr>
        <p:spPr>
          <a:xfrm>
            <a:off x="311700" y="825300"/>
            <a:ext cx="7151418"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10,000 data points were sampled from 1st Jan 2015 to 1st Jan 2020. </a:t>
            </a:r>
            <a:endParaRPr/>
          </a:p>
          <a:p>
            <a:pPr indent="0" lvl="0" marL="0" rtl="0" algn="l">
              <a:spcBef>
                <a:spcPts val="1200"/>
              </a:spcBef>
              <a:spcAft>
                <a:spcPts val="0"/>
              </a:spcAft>
              <a:buSzPts val="1800"/>
              <a:buNone/>
            </a:pPr>
            <a:r>
              <a:rPr lang="en-GB"/>
              <a:t>An 80/20 train-test split was constructed and used to fit a cubic polynomial SVR model, with optimal parameters given by cross validation. </a:t>
            </a:r>
            <a:endParaRPr/>
          </a:p>
          <a:p>
            <a:pPr indent="0" lvl="0" marL="0" rtl="0" algn="l">
              <a:spcBef>
                <a:spcPts val="1200"/>
              </a:spcBef>
              <a:spcAft>
                <a:spcPts val="0"/>
              </a:spcAft>
              <a:buSzPts val="1800"/>
              <a:buNone/>
            </a:pPr>
            <a:r>
              <a:rPr lang="en-GB"/>
              <a:t>A cubic kernel was used in order to avoid fluctuations in the tail ends of the model.</a:t>
            </a:r>
            <a:endParaRPr/>
          </a:p>
          <a:p>
            <a:pPr indent="0" lvl="0" marL="0" rtl="0" algn="l">
              <a:spcBef>
                <a:spcPts val="1200"/>
              </a:spcBef>
              <a:spcAft>
                <a:spcPts val="0"/>
              </a:spcAft>
              <a:buSzPts val="1800"/>
              <a:buNone/>
            </a:pPr>
            <a:r>
              <a:t/>
            </a:r>
            <a:endParaRPr/>
          </a:p>
          <a:p>
            <a:pPr indent="0" lvl="0" marL="0" rtl="0" algn="l">
              <a:spcBef>
                <a:spcPts val="1200"/>
              </a:spcBef>
              <a:spcAft>
                <a:spcPts val="0"/>
              </a:spcAft>
              <a:buSzPts val="1800"/>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SzPts val="1800"/>
              <a:buNone/>
            </a:pPr>
            <a:r>
              <a:t/>
            </a:r>
            <a:endParaRPr/>
          </a:p>
        </p:txBody>
      </p:sp>
      <p:pic>
        <p:nvPicPr>
          <p:cNvPr id="225" name="Google Shape;225;p12"/>
          <p:cNvPicPr preferRelativeResize="0"/>
          <p:nvPr/>
        </p:nvPicPr>
        <p:blipFill rotWithShape="1">
          <a:blip r:embed="rId3">
            <a:alphaModFix/>
          </a:blip>
          <a:srcRect b="0" l="0" r="0" t="0"/>
          <a:stretch/>
        </p:blipFill>
        <p:spPr>
          <a:xfrm>
            <a:off x="466225" y="2440225"/>
            <a:ext cx="3841000" cy="2703275"/>
          </a:xfrm>
          <a:prstGeom prst="rect">
            <a:avLst/>
          </a:prstGeom>
          <a:noFill/>
          <a:ln>
            <a:noFill/>
          </a:ln>
        </p:spPr>
      </p:pic>
      <p:sp>
        <p:nvSpPr>
          <p:cNvPr id="226" name="Google Shape;226;p12"/>
          <p:cNvSpPr txBox="1"/>
          <p:nvPr/>
        </p:nvSpPr>
        <p:spPr>
          <a:xfrm>
            <a:off x="4522700" y="3260100"/>
            <a:ext cx="3921600" cy="1305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Root Mean Square Error:</a:t>
            </a:r>
            <a:r>
              <a:rPr b="0" i="0" lang="en-GB" sz="1600" u="none" cap="none" strike="noStrike">
                <a:solidFill>
                  <a:schemeClr val="dk2"/>
                </a:solidFill>
                <a:latin typeface="Trebuchet MS"/>
                <a:ea typeface="Trebuchet MS"/>
                <a:cs typeface="Trebuchet MS"/>
                <a:sym typeface="Trebuchet MS"/>
              </a:rPr>
              <a:t> 791.459</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Mean Absolute Error: </a:t>
            </a:r>
            <a:r>
              <a:rPr b="0" i="0" lang="en-GB" sz="1600" u="none" cap="none" strike="noStrike">
                <a:solidFill>
                  <a:schemeClr val="dk2"/>
                </a:solidFill>
                <a:latin typeface="Trebuchet MS"/>
                <a:ea typeface="Trebuchet MS"/>
                <a:cs typeface="Trebuchet MS"/>
                <a:sym typeface="Trebuchet MS"/>
              </a:rPr>
              <a:t>656.451</a:t>
            </a:r>
            <a:endParaRPr b="0" i="0" sz="1600" u="none" cap="none" strike="noStrike">
              <a:solidFill>
                <a:schemeClr val="dk2"/>
              </a:solidFill>
              <a:latin typeface="Trebuchet MS"/>
              <a:ea typeface="Trebuchet MS"/>
              <a:cs typeface="Trebuchet MS"/>
              <a:sym typeface="Trebuchet MS"/>
            </a:endParaRPr>
          </a:p>
          <a:p>
            <a:pPr indent="0" lvl="0" marL="0" marR="0" rtl="0" algn="l">
              <a:lnSpc>
                <a:spcPct val="115000"/>
              </a:lnSpc>
              <a:spcBef>
                <a:spcPts val="1200"/>
              </a:spcBef>
              <a:spcAft>
                <a:spcPts val="1200"/>
              </a:spcAft>
              <a:buClr>
                <a:schemeClr val="dk2"/>
              </a:buClr>
              <a:buSzPts val="1600"/>
              <a:buFont typeface="Trebuchet MS"/>
              <a:buNone/>
            </a:pPr>
            <a:r>
              <a:rPr b="1" i="0" lang="en-GB" sz="1600" u="none" cap="none" strike="noStrike">
                <a:solidFill>
                  <a:schemeClr val="dk2"/>
                </a:solidFill>
                <a:latin typeface="Trebuchet MS"/>
                <a:ea typeface="Trebuchet MS"/>
                <a:cs typeface="Trebuchet MS"/>
                <a:sym typeface="Trebuchet MS"/>
              </a:rPr>
              <a:t>R</a:t>
            </a:r>
            <a:r>
              <a:rPr b="1" baseline="30000" i="0" lang="en-GB" sz="1600" u="none" cap="none" strike="noStrike">
                <a:solidFill>
                  <a:schemeClr val="dk2"/>
                </a:solidFill>
                <a:latin typeface="Trebuchet MS"/>
                <a:ea typeface="Trebuchet MS"/>
                <a:cs typeface="Trebuchet MS"/>
                <a:sym typeface="Trebuchet MS"/>
              </a:rPr>
              <a:t>2</a:t>
            </a:r>
            <a:r>
              <a:rPr b="1" i="0" lang="en-GB" sz="1600" u="none" cap="none" strike="noStrike">
                <a:solidFill>
                  <a:schemeClr val="dk2"/>
                </a:solidFill>
                <a:latin typeface="Trebuchet MS"/>
                <a:ea typeface="Trebuchet MS"/>
                <a:cs typeface="Trebuchet MS"/>
                <a:sym typeface="Trebuchet MS"/>
              </a:rPr>
              <a:t>:</a:t>
            </a:r>
            <a:r>
              <a:rPr b="0" i="0" lang="en-GB" sz="1600" u="none" cap="none" strike="noStrike">
                <a:solidFill>
                  <a:schemeClr val="dk2"/>
                </a:solidFill>
                <a:latin typeface="Trebuchet MS"/>
                <a:ea typeface="Trebuchet MS"/>
                <a:cs typeface="Trebuchet MS"/>
                <a:sym typeface="Trebuchet MS"/>
              </a:rPr>
              <a:t> 0.181</a:t>
            </a:r>
            <a:endParaRPr b="0" i="0" sz="1600" u="none" cap="none" strike="noStrike">
              <a:solidFill>
                <a:schemeClr val="dk2"/>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Forecasting Climate Change’s Impact on Energy Demand</a:t>
            </a:r>
            <a:endParaRPr/>
          </a:p>
        </p:txBody>
      </p:sp>
      <p:sp>
        <p:nvSpPr>
          <p:cNvPr id="232" name="Google Shape;232;p13"/>
          <p:cNvSpPr txBox="1"/>
          <p:nvPr>
            <p:ph idx="1" type="body"/>
          </p:nvPr>
        </p:nvSpPr>
        <p:spPr>
          <a:xfrm>
            <a:off x="311700" y="1152475"/>
            <a:ext cx="7447253"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Each of the two non-linear models were used to forecast the changes in energy demand that might be observed under the effects of climate change. </a:t>
            </a:r>
            <a:endParaRPr/>
          </a:p>
          <a:p>
            <a:pPr indent="0" lvl="0" marL="0" rtl="0" algn="l">
              <a:spcBef>
                <a:spcPts val="1200"/>
              </a:spcBef>
              <a:spcAft>
                <a:spcPts val="1200"/>
              </a:spcAft>
              <a:buSzPts val="1800"/>
              <a:buNone/>
            </a:pPr>
            <a:r>
              <a:rPr lang="en-GB"/>
              <a:t>Research indicates that global temperatures will increase by 2°C by 2050 due to climate change. Incorporating this effect into our model allows us to predict how the demand for energy will be affected by these more extreme temperatures.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Forecasting Climate Change’s Impact on Energy Demand</a:t>
            </a:r>
            <a:endParaRPr/>
          </a:p>
        </p:txBody>
      </p:sp>
      <p:sp>
        <p:nvSpPr>
          <p:cNvPr id="238" name="Google Shape;238;p14"/>
          <p:cNvSpPr txBox="1"/>
          <p:nvPr>
            <p:ph idx="1" type="body"/>
          </p:nvPr>
        </p:nvSpPr>
        <p:spPr>
          <a:xfrm>
            <a:off x="311700" y="1152475"/>
            <a:ext cx="7393465"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The random forest regression model predicted a 2.93% increase in total energy demand as a result of the more extreme temperatures.</a:t>
            </a:r>
            <a:endParaRPr/>
          </a:p>
          <a:p>
            <a:pPr indent="0" lvl="0" marL="0" rtl="0" algn="l">
              <a:spcBef>
                <a:spcPts val="1200"/>
              </a:spcBef>
              <a:spcAft>
                <a:spcPts val="0"/>
              </a:spcAft>
              <a:buSzPts val="1800"/>
              <a:buNone/>
            </a:pPr>
            <a:r>
              <a:rPr lang="en-GB"/>
              <a:t>The SVR model also produced a 2.46% increase in the total annual energy demand.</a:t>
            </a:r>
            <a:endParaRPr/>
          </a:p>
          <a:p>
            <a:pPr indent="0" lvl="0" marL="0" rtl="0" algn="l">
              <a:spcBef>
                <a:spcPts val="1200"/>
              </a:spcBef>
              <a:spcAft>
                <a:spcPts val="1200"/>
              </a:spcAft>
              <a:buSzPts val="1800"/>
              <a:buNone/>
            </a:pPr>
            <a:r>
              <a:rPr lang="en-GB"/>
              <a:t>Despite the differences in the models’ error metrics and goodness of fit (as evidenced by the R-squared values of each model), both appear to predict somewhat similar effects on energy consumption in the future.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accent1"/>
              </a:buClr>
              <a:buSzPct val="115226"/>
              <a:buFont typeface="Trebuchet MS"/>
              <a:buNone/>
            </a:pPr>
            <a:r>
              <a:rPr lang="en-GB"/>
              <a:t>Conclusion &amp; Improvements</a:t>
            </a:r>
            <a:endParaRPr/>
          </a:p>
        </p:txBody>
      </p:sp>
      <p:sp>
        <p:nvSpPr>
          <p:cNvPr id="244" name="Google Shape;244;p15"/>
          <p:cNvSpPr txBox="1"/>
          <p:nvPr>
            <p:ph idx="1" type="body"/>
          </p:nvPr>
        </p:nvSpPr>
        <p:spPr>
          <a:xfrm>
            <a:off x="311700" y="1152475"/>
            <a:ext cx="7326229"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t>Our models predicted a 2-3% increase in demand when factoring in the effects of rudimentary climate change.</a:t>
            </a:r>
            <a:endParaRPr/>
          </a:p>
          <a:p>
            <a:pPr indent="0" lvl="0" marL="0" rtl="0" algn="l">
              <a:spcBef>
                <a:spcPts val="1200"/>
              </a:spcBef>
              <a:spcAft>
                <a:spcPts val="0"/>
              </a:spcAft>
              <a:buSzPts val="1800"/>
              <a:buNone/>
            </a:pPr>
            <a:r>
              <a:rPr b="1" lang="en-GB"/>
              <a:t>Assumptions</a:t>
            </a:r>
            <a:r>
              <a:rPr lang="en-GB"/>
              <a:t>: this project used an extremely simple model for climate change effects, taking only temperature into account. Future work could use a more rigorous approach to this aspect of the forecasting.</a:t>
            </a:r>
            <a:endParaRPr/>
          </a:p>
          <a:p>
            <a:pPr indent="0" lvl="0" marL="0" rtl="0" algn="l">
              <a:spcBef>
                <a:spcPts val="1200"/>
              </a:spcBef>
              <a:spcAft>
                <a:spcPts val="0"/>
              </a:spcAft>
              <a:buSzPts val="1800"/>
              <a:buNone/>
            </a:pPr>
            <a:r>
              <a:rPr b="1" lang="en-GB"/>
              <a:t>Inaccuracies</a:t>
            </a:r>
            <a:r>
              <a:rPr lang="en-GB"/>
              <a:t>: all models included significant noise, this could be reduced through more tuning of the models’ parameters.</a:t>
            </a:r>
            <a:endParaRPr/>
          </a:p>
          <a:p>
            <a:pPr indent="0" lvl="0" marL="0" rtl="0" algn="l">
              <a:spcBef>
                <a:spcPts val="1200"/>
              </a:spcBef>
              <a:spcAft>
                <a:spcPts val="0"/>
              </a:spcAft>
              <a:buSzPts val="1800"/>
              <a:buNone/>
            </a:pPr>
            <a:r>
              <a:rPr b="1" lang="en-GB"/>
              <a:t>Techniques</a:t>
            </a:r>
            <a:r>
              <a:rPr lang="en-GB"/>
              <a:t>: other techniques could be employed such as Gaussian processes (excluding those being implemented in SVMs), powerful unsupervised machine learning techniques used for forecasting</a:t>
            </a:r>
            <a:endParaRPr/>
          </a:p>
          <a:p>
            <a:pPr indent="0" lvl="0" marL="0" rtl="0" algn="l">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Custom 1">
      <a:dk1>
        <a:srgbClr val="000000"/>
      </a:dk1>
      <a:lt1>
        <a:srgbClr val="FFFFFF"/>
      </a:lt1>
      <a:dk2>
        <a:srgbClr val="17406D"/>
      </a:dk2>
      <a:lt2>
        <a:srgbClr val="DBEFF9"/>
      </a:lt2>
      <a:accent1>
        <a:srgbClr val="C00000"/>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 Naude</dc:creator>
</cp:coreProperties>
</file>